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Aptos Bold" charset="1" panose="020B0004020202020204"/>
      <p:regular r:id="rId24"/>
    </p:embeddedFont>
    <p:embeddedFont>
      <p:font typeface="Aptos" charset="1" panose="020B0004020202020204"/>
      <p:regular r:id="rId25"/>
    </p:embeddedFont>
    <p:embeddedFont>
      <p:font typeface="Calibri (MS) Bold" charset="1" panose="020F0702030404030204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7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SAP BTP AI CAPSTONE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JouleOps @ NorthWind Manufacturing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Enterprise Operations Assistant using SAP HANA Cloud, FastAPI, MCP and SAP BTP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3719" y="2600925"/>
            <a:ext cx="9760277" cy="5985424"/>
            <a:chOff x="0" y="0"/>
            <a:chExt cx="13013703" cy="798056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3013689" cy="7980552"/>
            </a:xfrm>
            <a:custGeom>
              <a:avLst/>
              <a:gdLst/>
              <a:ahLst/>
              <a:cxnLst/>
              <a:rect r="r" b="b" t="t" l="l"/>
              <a:pathLst>
                <a:path h="7980552" w="13013689">
                  <a:moveTo>
                    <a:pt x="0" y="1330071"/>
                  </a:moveTo>
                  <a:cubicBezTo>
                    <a:pt x="0" y="595503"/>
                    <a:pt x="595503" y="0"/>
                    <a:pt x="1330071" y="0"/>
                  </a:cubicBezTo>
                  <a:lnTo>
                    <a:pt x="11683619" y="0"/>
                  </a:lnTo>
                  <a:cubicBezTo>
                    <a:pt x="12418187" y="0"/>
                    <a:pt x="13013689" y="595503"/>
                    <a:pt x="13013689" y="1330071"/>
                  </a:cubicBezTo>
                  <a:lnTo>
                    <a:pt x="13013689" y="6650482"/>
                  </a:lnTo>
                  <a:cubicBezTo>
                    <a:pt x="13013689" y="7385050"/>
                    <a:pt x="12418187" y="7980552"/>
                    <a:pt x="11683619" y="7980552"/>
                  </a:cubicBezTo>
                  <a:lnTo>
                    <a:pt x="1330071" y="7980552"/>
                  </a:lnTo>
                  <a:cubicBezTo>
                    <a:pt x="595503" y="7980553"/>
                    <a:pt x="0" y="7385050"/>
                    <a:pt x="0" y="6650482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532744" y="3408769"/>
            <a:ext cx="7778620" cy="6635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4"/>
              </a:lnSpc>
            </a:pPr>
            <a:r>
              <a:rPr lang="en-US" sz="450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AI-assisted operations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32744" y="4438269"/>
            <a:ext cx="7915885" cy="12812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62"/>
              </a:lnSpc>
            </a:pPr>
            <a:r>
              <a:rPr lang="en-US" sz="25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 governed integration pattern that turns operational questions into structured, auditable responses.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532744" y="7664053"/>
            <a:ext cx="7366816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Susmitha Boga  •  August 2026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2628588" y="2745343"/>
            <a:ext cx="2745343" cy="1029500"/>
            <a:chOff x="0" y="0"/>
            <a:chExt cx="3660458" cy="137266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6603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660394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lnTo>
                    <a:pt x="3431667" y="0"/>
                  </a:lnTo>
                  <a:cubicBezTo>
                    <a:pt x="3558032" y="0"/>
                    <a:pt x="3660394" y="102489"/>
                    <a:pt x="3660394" y="228727"/>
                  </a:cubicBezTo>
                  <a:lnTo>
                    <a:pt x="3660394" y="1143889"/>
                  </a:lnTo>
                  <a:cubicBezTo>
                    <a:pt x="3660394" y="1270254"/>
                    <a:pt x="3557905" y="1372616"/>
                    <a:pt x="3431667" y="1372616"/>
                  </a:cubicBezTo>
                  <a:lnTo>
                    <a:pt x="228727" y="1372616"/>
                  </a:lnTo>
                  <a:cubicBezTo>
                    <a:pt x="102489" y="1372616"/>
                    <a:pt x="0" y="1270254"/>
                    <a:pt x="0" y="1143889"/>
                  </a:cubicBez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16" id="16"/>
          <p:cNvSpPr txBox="true"/>
          <p:nvPr/>
        </p:nvSpPr>
        <p:spPr>
          <a:xfrm rot="0">
            <a:off x="13861808" y="3079328"/>
            <a:ext cx="278904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91423"/>
                </a:solidFill>
                <a:latin typeface="Aptos Bold"/>
                <a:ea typeface="Aptos Bold"/>
                <a:cs typeface="Aptos Bold"/>
                <a:sym typeface="Aptos Bold"/>
              </a:rPr>
              <a:t>AI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4138529" y="4118019"/>
            <a:ext cx="2745343" cy="1029500"/>
            <a:chOff x="0" y="0"/>
            <a:chExt cx="3660458" cy="137266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6603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660394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lnTo>
                    <a:pt x="3431667" y="0"/>
                  </a:lnTo>
                  <a:cubicBezTo>
                    <a:pt x="3558032" y="0"/>
                    <a:pt x="3660394" y="102489"/>
                    <a:pt x="3660394" y="228727"/>
                  </a:cubicBezTo>
                  <a:lnTo>
                    <a:pt x="3660394" y="1143889"/>
                  </a:lnTo>
                  <a:cubicBezTo>
                    <a:pt x="3660394" y="1270254"/>
                    <a:pt x="3557905" y="1372616"/>
                    <a:pt x="3431667" y="1372616"/>
                  </a:cubicBezTo>
                  <a:lnTo>
                    <a:pt x="228727" y="1372616"/>
                  </a:lnTo>
                  <a:cubicBezTo>
                    <a:pt x="102489" y="1372616"/>
                    <a:pt x="0" y="1270254"/>
                    <a:pt x="0" y="1143889"/>
                  </a:cubicBezTo>
                  <a:close/>
                </a:path>
              </a:pathLst>
            </a:custGeom>
            <a:solidFill>
              <a:srgbClr val="8468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229969" y="4451995"/>
            <a:ext cx="256246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91423"/>
                </a:solidFill>
                <a:latin typeface="Aptos Bold"/>
                <a:ea typeface="Aptos Bold"/>
                <a:cs typeface="Aptos Bold"/>
                <a:sym typeface="Aptos Bold"/>
              </a:rPr>
              <a:t>MCP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12491323" y="5627951"/>
            <a:ext cx="2745343" cy="1029500"/>
            <a:chOff x="0" y="0"/>
            <a:chExt cx="3660458" cy="137266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6603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660394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lnTo>
                    <a:pt x="3431667" y="0"/>
                  </a:lnTo>
                  <a:cubicBezTo>
                    <a:pt x="3558032" y="0"/>
                    <a:pt x="3660394" y="102489"/>
                    <a:pt x="3660394" y="228727"/>
                  </a:cubicBezTo>
                  <a:lnTo>
                    <a:pt x="3660394" y="1143889"/>
                  </a:lnTo>
                  <a:cubicBezTo>
                    <a:pt x="3660394" y="1270254"/>
                    <a:pt x="3557905" y="1372616"/>
                    <a:pt x="3431667" y="1372616"/>
                  </a:cubicBezTo>
                  <a:lnTo>
                    <a:pt x="228727" y="1372616"/>
                  </a:lnTo>
                  <a:cubicBezTo>
                    <a:pt x="102489" y="1372616"/>
                    <a:pt x="0" y="1270254"/>
                    <a:pt x="0" y="1143889"/>
                  </a:cubicBezTo>
                  <a:close/>
                </a:path>
              </a:pathLst>
            </a:custGeom>
            <a:solidFill>
              <a:srgbClr val="4185FF"/>
            </a:solidFill>
          </p:spPr>
        </p:sp>
      </p:grpSp>
      <p:sp>
        <p:nvSpPr>
          <p:cNvPr name="TextBox 22" id="22"/>
          <p:cNvSpPr txBox="true"/>
          <p:nvPr/>
        </p:nvSpPr>
        <p:spPr>
          <a:xfrm rot="0">
            <a:off x="12582763" y="5961936"/>
            <a:ext cx="256246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91423"/>
                </a:solidFill>
                <a:latin typeface="Aptos Bold"/>
                <a:ea typeface="Aptos Bold"/>
                <a:cs typeface="Aptos Bold"/>
                <a:sym typeface="Aptos Bold"/>
              </a:rPr>
              <a:t>API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4069892" y="7069264"/>
            <a:ext cx="2745343" cy="1029500"/>
            <a:chOff x="0" y="0"/>
            <a:chExt cx="3660458" cy="137266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660394" cy="1372616"/>
            </a:xfrm>
            <a:custGeom>
              <a:avLst/>
              <a:gdLst/>
              <a:ahLst/>
              <a:cxnLst/>
              <a:rect r="r" b="b" t="t" l="l"/>
              <a:pathLst>
                <a:path h="1372616" w="3660394">
                  <a:moveTo>
                    <a:pt x="0" y="228727"/>
                  </a:moveTo>
                  <a:cubicBezTo>
                    <a:pt x="0" y="102489"/>
                    <a:pt x="102489" y="0"/>
                    <a:pt x="228727" y="0"/>
                  </a:cubicBezTo>
                  <a:lnTo>
                    <a:pt x="3431667" y="0"/>
                  </a:lnTo>
                  <a:cubicBezTo>
                    <a:pt x="3558032" y="0"/>
                    <a:pt x="3660394" y="102489"/>
                    <a:pt x="3660394" y="228727"/>
                  </a:cubicBezTo>
                  <a:lnTo>
                    <a:pt x="3660394" y="1143889"/>
                  </a:lnTo>
                  <a:cubicBezTo>
                    <a:pt x="3660394" y="1270254"/>
                    <a:pt x="3557905" y="1372616"/>
                    <a:pt x="3431667" y="1372616"/>
                  </a:cubicBezTo>
                  <a:lnTo>
                    <a:pt x="228727" y="1372616"/>
                  </a:lnTo>
                  <a:cubicBezTo>
                    <a:pt x="102489" y="1372616"/>
                    <a:pt x="0" y="1270254"/>
                    <a:pt x="0" y="1143889"/>
                  </a:cubicBezTo>
                  <a:close/>
                </a:path>
              </a:pathLst>
            </a:custGeom>
            <a:solidFill>
              <a:srgbClr val="41CD89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161332" y="7403240"/>
            <a:ext cx="256246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82"/>
              </a:lnSpc>
            </a:pPr>
            <a:r>
              <a:rPr lang="en-US" sz="2401" b="true">
                <a:solidFill>
                  <a:srgbClr val="091423"/>
                </a:solidFill>
                <a:latin typeface="Aptos Bold"/>
                <a:ea typeface="Aptos Bold"/>
                <a:cs typeface="Aptos Bold"/>
                <a:sym typeface="Aptos Bold"/>
              </a:rPr>
              <a:t>HANA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01 / CONTEXT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Problem → solution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Why JouleOps was designed this way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3719" y="2463660"/>
            <a:ext cx="5230454" cy="5916787"/>
            <a:chOff x="0" y="0"/>
            <a:chExt cx="6973938" cy="788904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973951" cy="7888986"/>
            </a:xfrm>
            <a:custGeom>
              <a:avLst/>
              <a:gdLst/>
              <a:ahLst/>
              <a:cxnLst/>
              <a:rect r="r" b="b" t="t" l="l"/>
              <a:pathLst>
                <a:path h="7888986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6726682"/>
                  </a:lnTo>
                  <a:cubicBezTo>
                    <a:pt x="6973951" y="7368667"/>
                    <a:pt x="6453505" y="7888986"/>
                    <a:pt x="5811647" y="7888986"/>
                  </a:cubicBezTo>
                  <a:lnTo>
                    <a:pt x="1162304" y="7888986"/>
                  </a:lnTo>
                  <a:cubicBezTo>
                    <a:pt x="520446" y="7889113"/>
                    <a:pt x="0" y="7368667"/>
                    <a:pt x="0" y="6726682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2470814"/>
            <a:ext cx="75495" cy="5902490"/>
            <a:chOff x="0" y="0"/>
            <a:chExt cx="100660" cy="786998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11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4185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4293" y="2754087"/>
            <a:ext cx="4484208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Problem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293" y="3367583"/>
            <a:ext cx="4484208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Operational data and actions are spread across inventory, orders, customers, invoices and tickets.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40494" y="2463660"/>
            <a:ext cx="5230454" cy="5916787"/>
            <a:chOff x="0" y="0"/>
            <a:chExt cx="6973938" cy="7889049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973951" cy="7888986"/>
            </a:xfrm>
            <a:custGeom>
              <a:avLst/>
              <a:gdLst/>
              <a:ahLst/>
              <a:cxnLst/>
              <a:rect r="r" b="b" t="t" l="l"/>
              <a:pathLst>
                <a:path h="7888986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6726682"/>
                  </a:lnTo>
                  <a:cubicBezTo>
                    <a:pt x="6973951" y="7368667"/>
                    <a:pt x="6453505" y="7888986"/>
                    <a:pt x="5811647" y="7888986"/>
                  </a:cubicBezTo>
                  <a:lnTo>
                    <a:pt x="1162304" y="7888986"/>
                  </a:lnTo>
                  <a:cubicBezTo>
                    <a:pt x="520446" y="7889113"/>
                    <a:pt x="0" y="7368667"/>
                    <a:pt x="0" y="6726682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47647" y="2470814"/>
            <a:ext cx="75495" cy="5902490"/>
            <a:chOff x="0" y="0"/>
            <a:chExt cx="100660" cy="786998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711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8468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41077" y="2754087"/>
            <a:ext cx="4484208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Risk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41077" y="3367583"/>
            <a:ext cx="4484208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An AI assistant should not have unrestricted database access or uncontrolled write operations.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27278" y="2463660"/>
            <a:ext cx="5230454" cy="5916787"/>
            <a:chOff x="0" y="0"/>
            <a:chExt cx="6973938" cy="7889049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973951" cy="7888986"/>
            </a:xfrm>
            <a:custGeom>
              <a:avLst/>
              <a:gdLst/>
              <a:ahLst/>
              <a:cxnLst/>
              <a:rect r="r" b="b" t="t" l="l"/>
              <a:pathLst>
                <a:path h="7888986" w="6973951">
                  <a:moveTo>
                    <a:pt x="0" y="1162304"/>
                  </a:moveTo>
                  <a:cubicBezTo>
                    <a:pt x="0" y="520446"/>
                    <a:pt x="520446" y="0"/>
                    <a:pt x="1162304" y="0"/>
                  </a:cubicBezTo>
                  <a:lnTo>
                    <a:pt x="5811647" y="0"/>
                  </a:lnTo>
                  <a:cubicBezTo>
                    <a:pt x="6453632" y="0"/>
                    <a:pt x="6973951" y="520446"/>
                    <a:pt x="6973951" y="1162304"/>
                  </a:cubicBezTo>
                  <a:lnTo>
                    <a:pt x="6973951" y="6726682"/>
                  </a:lnTo>
                  <a:cubicBezTo>
                    <a:pt x="6973951" y="7368667"/>
                    <a:pt x="6453505" y="7888986"/>
                    <a:pt x="5811647" y="7888986"/>
                  </a:cubicBezTo>
                  <a:lnTo>
                    <a:pt x="1162304" y="7888986"/>
                  </a:lnTo>
                  <a:cubicBezTo>
                    <a:pt x="520446" y="7889113"/>
                    <a:pt x="0" y="7368667"/>
                    <a:pt x="0" y="6726682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134421" y="2470814"/>
            <a:ext cx="75495" cy="5902490"/>
            <a:chOff x="0" y="0"/>
            <a:chExt cx="100660" cy="786998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11" cy="7869936"/>
            </a:xfrm>
            <a:custGeom>
              <a:avLst/>
              <a:gdLst/>
              <a:ahLst/>
              <a:cxnLst/>
              <a:rect r="r" b="b" t="t" l="l"/>
              <a:pathLst>
                <a:path h="786993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7869936"/>
                  </a:lnTo>
                  <a:lnTo>
                    <a:pt x="0" y="7869936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27852" y="2754087"/>
            <a:ext cx="4484208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JouleOps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27852" y="3367583"/>
            <a:ext cx="4484208" cy="4781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Expose only defined business capabilities through FastAPI + MCP, with authorization and audit logging.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02 /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JouleOps integration blueprint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The complete request path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7817" y="3904964"/>
            <a:ext cx="2141944" cy="1524238"/>
            <a:chOff x="0" y="0"/>
            <a:chExt cx="2855925" cy="203231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855849" cy="2032254"/>
            </a:xfrm>
            <a:custGeom>
              <a:avLst/>
              <a:gdLst/>
              <a:ahLst/>
              <a:cxnLst/>
              <a:rect r="r" b="b" t="t" l="l"/>
              <a:pathLst>
                <a:path h="2032254" w="2855849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517140" y="0"/>
                  </a:lnTo>
                  <a:cubicBezTo>
                    <a:pt x="2704211" y="0"/>
                    <a:pt x="2855849" y="151638"/>
                    <a:pt x="2855849" y="338709"/>
                  </a:cubicBezTo>
                  <a:lnTo>
                    <a:pt x="2855849" y="1693545"/>
                  </a:lnTo>
                  <a:cubicBezTo>
                    <a:pt x="2855849" y="1880616"/>
                    <a:pt x="2704211" y="2032254"/>
                    <a:pt x="2517140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85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846411" y="4410818"/>
            <a:ext cx="19447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AutoShape 12" id="12"/>
          <p:cNvSpPr/>
          <p:nvPr/>
        </p:nvSpPr>
        <p:spPr>
          <a:xfrm rot="199620">
            <a:off x="2862996" y="4657563"/>
            <a:ext cx="656939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3630435" y="3904964"/>
            <a:ext cx="2141944" cy="1524238"/>
            <a:chOff x="0" y="0"/>
            <a:chExt cx="2855925" cy="203231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855849" cy="2032254"/>
            </a:xfrm>
            <a:custGeom>
              <a:avLst/>
              <a:gdLst/>
              <a:ahLst/>
              <a:cxnLst/>
              <a:rect r="r" b="b" t="t" l="l"/>
              <a:pathLst>
                <a:path h="2032254" w="2855849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517140" y="0"/>
                  </a:lnTo>
                  <a:cubicBezTo>
                    <a:pt x="2704211" y="0"/>
                    <a:pt x="2855849" y="151638"/>
                    <a:pt x="2855849" y="338709"/>
                  </a:cubicBezTo>
                  <a:lnTo>
                    <a:pt x="2855849" y="1693545"/>
                  </a:lnTo>
                  <a:cubicBezTo>
                    <a:pt x="2855849" y="1880616"/>
                    <a:pt x="2704211" y="2032254"/>
                    <a:pt x="2517140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8468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729018" y="4410818"/>
            <a:ext cx="19447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</a:t>
            </a:r>
          </a:p>
        </p:txBody>
      </p:sp>
      <p:sp>
        <p:nvSpPr>
          <p:cNvPr name="AutoShape 16" id="16"/>
          <p:cNvSpPr/>
          <p:nvPr/>
        </p:nvSpPr>
        <p:spPr>
          <a:xfrm rot="199620">
            <a:off x="5745604" y="4657563"/>
            <a:ext cx="656939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6513043" y="3904964"/>
            <a:ext cx="2141944" cy="1524238"/>
            <a:chOff x="0" y="0"/>
            <a:chExt cx="2855925" cy="203231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855849" cy="2032254"/>
            </a:xfrm>
            <a:custGeom>
              <a:avLst/>
              <a:gdLst/>
              <a:ahLst/>
              <a:cxnLst/>
              <a:rect r="r" b="b" t="t" l="l"/>
              <a:pathLst>
                <a:path h="2032254" w="2855849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517140" y="0"/>
                  </a:lnTo>
                  <a:cubicBezTo>
                    <a:pt x="2704211" y="0"/>
                    <a:pt x="2855849" y="151638"/>
                    <a:pt x="2855849" y="338709"/>
                  </a:cubicBezTo>
                  <a:lnTo>
                    <a:pt x="2855849" y="1693545"/>
                  </a:lnTo>
                  <a:cubicBezTo>
                    <a:pt x="2855849" y="1880616"/>
                    <a:pt x="2704211" y="2032254"/>
                    <a:pt x="2517140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30D2D6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6611636" y="4410818"/>
            <a:ext cx="19447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</a:t>
            </a:r>
          </a:p>
        </p:txBody>
      </p:sp>
      <p:sp>
        <p:nvSpPr>
          <p:cNvPr name="AutoShape 20" id="20"/>
          <p:cNvSpPr/>
          <p:nvPr/>
        </p:nvSpPr>
        <p:spPr>
          <a:xfrm rot="199620">
            <a:off x="8628221" y="4657563"/>
            <a:ext cx="656939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9395660" y="3904964"/>
            <a:ext cx="2141944" cy="1524238"/>
            <a:chOff x="0" y="0"/>
            <a:chExt cx="2855925" cy="203231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855849" cy="2032254"/>
            </a:xfrm>
            <a:custGeom>
              <a:avLst/>
              <a:gdLst/>
              <a:ahLst/>
              <a:cxnLst/>
              <a:rect r="r" b="b" t="t" l="l"/>
              <a:pathLst>
                <a:path h="2032254" w="2855849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517140" y="0"/>
                  </a:lnTo>
                  <a:cubicBezTo>
                    <a:pt x="2704211" y="0"/>
                    <a:pt x="2855849" y="151638"/>
                    <a:pt x="2855849" y="338709"/>
                  </a:cubicBezTo>
                  <a:lnTo>
                    <a:pt x="2855849" y="1693545"/>
                  </a:lnTo>
                  <a:cubicBezTo>
                    <a:pt x="2855849" y="1880616"/>
                    <a:pt x="2704211" y="2032254"/>
                    <a:pt x="2517140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CB1A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9494244" y="4410818"/>
            <a:ext cx="19447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BTP</a:t>
            </a:r>
          </a:p>
        </p:txBody>
      </p:sp>
      <p:sp>
        <p:nvSpPr>
          <p:cNvPr name="AutoShape 24" id="24"/>
          <p:cNvSpPr/>
          <p:nvPr/>
        </p:nvSpPr>
        <p:spPr>
          <a:xfrm rot="180780">
            <a:off x="11510886" y="4657563"/>
            <a:ext cx="72547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2346905" y="3904964"/>
            <a:ext cx="2141944" cy="1524238"/>
            <a:chOff x="0" y="0"/>
            <a:chExt cx="2855925" cy="203231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855849" cy="2032254"/>
            </a:xfrm>
            <a:custGeom>
              <a:avLst/>
              <a:gdLst/>
              <a:ahLst/>
              <a:cxnLst/>
              <a:rect r="r" b="b" t="t" l="l"/>
              <a:pathLst>
                <a:path h="2032254" w="2855849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517140" y="0"/>
                  </a:lnTo>
                  <a:cubicBezTo>
                    <a:pt x="2704211" y="0"/>
                    <a:pt x="2855849" y="151638"/>
                    <a:pt x="2855849" y="338709"/>
                  </a:cubicBezTo>
                  <a:lnTo>
                    <a:pt x="2855849" y="1693545"/>
                  </a:lnTo>
                  <a:cubicBezTo>
                    <a:pt x="2855849" y="1880616"/>
                    <a:pt x="2704211" y="2032254"/>
                    <a:pt x="2517140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85F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2445489" y="4410818"/>
            <a:ext cx="19447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AutoShape 28" id="28"/>
          <p:cNvSpPr/>
          <p:nvPr/>
        </p:nvSpPr>
        <p:spPr>
          <a:xfrm rot="222900">
            <a:off x="14462008" y="4657563"/>
            <a:ext cx="588435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5160885" y="3904964"/>
            <a:ext cx="2141944" cy="1524238"/>
            <a:chOff x="0" y="0"/>
            <a:chExt cx="2855925" cy="20323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855849" cy="2032254"/>
            </a:xfrm>
            <a:custGeom>
              <a:avLst/>
              <a:gdLst/>
              <a:ahLst/>
              <a:cxnLst/>
              <a:rect r="r" b="b" t="t" l="l"/>
              <a:pathLst>
                <a:path h="2032254" w="2855849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2517140" y="0"/>
                  </a:lnTo>
                  <a:cubicBezTo>
                    <a:pt x="2704211" y="0"/>
                    <a:pt x="2855849" y="151638"/>
                    <a:pt x="2855849" y="338709"/>
                  </a:cubicBezTo>
                  <a:lnTo>
                    <a:pt x="2855849" y="1693545"/>
                  </a:lnTo>
                  <a:cubicBezTo>
                    <a:pt x="2855849" y="1880616"/>
                    <a:pt x="2704211" y="2032254"/>
                    <a:pt x="2517140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CD89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5259469" y="4410818"/>
            <a:ext cx="19447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81"/>
              </a:lnSpc>
            </a:pPr>
            <a:r>
              <a:rPr lang="en-US" sz="165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013185" y="7105459"/>
            <a:ext cx="14230179" cy="5357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Business logic stays in the backend; MCP provides a controlled AI-facing tool interface.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03 / FOUNDATION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Technology stack &amp; data model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Focused responsibilities across the solution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5092" y="2395023"/>
            <a:ext cx="5024552" cy="1867405"/>
            <a:chOff x="0" y="0"/>
            <a:chExt cx="6699402" cy="248987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699504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99504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284468" y="0"/>
                  </a:lnTo>
                  <a:cubicBezTo>
                    <a:pt x="6513703" y="0"/>
                    <a:pt x="6699504" y="185801"/>
                    <a:pt x="6699504" y="415036"/>
                  </a:cubicBezTo>
                  <a:lnTo>
                    <a:pt x="6699504" y="2074926"/>
                  </a:lnTo>
                  <a:cubicBezTo>
                    <a:pt x="6699504" y="2304161"/>
                    <a:pt x="6513703" y="2489962"/>
                    <a:pt x="6284468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92235" y="2402176"/>
            <a:ext cx="75495" cy="1853108"/>
            <a:chOff x="0" y="0"/>
            <a:chExt cx="100660" cy="24708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1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41CD89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85665" y="2685450"/>
            <a:ext cx="427830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 Cloud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285665" y="3298955"/>
            <a:ext cx="4278306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Operational data + tables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6513043" y="2395023"/>
            <a:ext cx="5024552" cy="1867405"/>
            <a:chOff x="0" y="0"/>
            <a:chExt cx="6699402" cy="248987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699504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99504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284468" y="0"/>
                  </a:lnTo>
                  <a:cubicBezTo>
                    <a:pt x="6513703" y="0"/>
                    <a:pt x="6699504" y="185801"/>
                    <a:pt x="6699504" y="415036"/>
                  </a:cubicBezTo>
                  <a:lnTo>
                    <a:pt x="6699504" y="2074926"/>
                  </a:lnTo>
                  <a:cubicBezTo>
                    <a:pt x="6699504" y="2304161"/>
                    <a:pt x="6513703" y="2489962"/>
                    <a:pt x="6284468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6520196" y="2402176"/>
            <a:ext cx="75495" cy="1853108"/>
            <a:chOff x="0" y="0"/>
            <a:chExt cx="100660" cy="247081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71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4185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6913626" y="2685450"/>
            <a:ext cx="427830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13626" y="3298955"/>
            <a:ext cx="4278306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REST capability layer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2141003" y="2395023"/>
            <a:ext cx="5024552" cy="1867405"/>
            <a:chOff x="0" y="0"/>
            <a:chExt cx="6699402" cy="248987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6699504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99504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284468" y="0"/>
                  </a:lnTo>
                  <a:cubicBezTo>
                    <a:pt x="6513703" y="0"/>
                    <a:pt x="6699504" y="185801"/>
                    <a:pt x="6699504" y="415036"/>
                  </a:cubicBezTo>
                  <a:lnTo>
                    <a:pt x="6699504" y="2074926"/>
                  </a:lnTo>
                  <a:cubicBezTo>
                    <a:pt x="6699504" y="2304161"/>
                    <a:pt x="6513703" y="2489962"/>
                    <a:pt x="6284468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2148147" y="2402176"/>
            <a:ext cx="75495" cy="1853108"/>
            <a:chOff x="0" y="0"/>
            <a:chExt cx="100660" cy="247081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1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2541577" y="2685450"/>
            <a:ext cx="427830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2541577" y="3298955"/>
            <a:ext cx="4278306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AI-facing tools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885092" y="4797200"/>
            <a:ext cx="5024552" cy="1867405"/>
            <a:chOff x="0" y="0"/>
            <a:chExt cx="6699402" cy="248987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699504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99504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284468" y="0"/>
                  </a:lnTo>
                  <a:cubicBezTo>
                    <a:pt x="6513703" y="0"/>
                    <a:pt x="6699504" y="185801"/>
                    <a:pt x="6699504" y="415036"/>
                  </a:cubicBezTo>
                  <a:lnTo>
                    <a:pt x="6699504" y="2074926"/>
                  </a:lnTo>
                  <a:cubicBezTo>
                    <a:pt x="6699504" y="2304161"/>
                    <a:pt x="6513703" y="2489962"/>
                    <a:pt x="6284468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892235" y="4804353"/>
            <a:ext cx="75495" cy="1853108"/>
            <a:chOff x="0" y="0"/>
            <a:chExt cx="100660" cy="247081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71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FFA84C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285665" y="5087626"/>
            <a:ext cx="427830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ngrok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85665" y="5701132"/>
            <a:ext cx="4278306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Temporary HTTPS bridge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6513043" y="4797200"/>
            <a:ext cx="5024552" cy="1867405"/>
            <a:chOff x="0" y="0"/>
            <a:chExt cx="6699402" cy="248987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6699504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99504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284468" y="0"/>
                  </a:lnTo>
                  <a:cubicBezTo>
                    <a:pt x="6513703" y="0"/>
                    <a:pt x="6699504" y="185801"/>
                    <a:pt x="6699504" y="415036"/>
                  </a:cubicBezTo>
                  <a:lnTo>
                    <a:pt x="6699504" y="2074926"/>
                  </a:lnTo>
                  <a:cubicBezTo>
                    <a:pt x="6699504" y="2304161"/>
                    <a:pt x="6513703" y="2489962"/>
                    <a:pt x="6284468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6520196" y="4804353"/>
            <a:ext cx="75495" cy="1853108"/>
            <a:chOff x="0" y="0"/>
            <a:chExt cx="100660" cy="247081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71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8468FF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6913626" y="5087626"/>
            <a:ext cx="427830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BTP Destinations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6913626" y="5701132"/>
            <a:ext cx="4278306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Connectivity configuration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12141003" y="4797200"/>
            <a:ext cx="5024552" cy="1867405"/>
            <a:chOff x="0" y="0"/>
            <a:chExt cx="6699402" cy="248987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699504" cy="2489962"/>
            </a:xfrm>
            <a:custGeom>
              <a:avLst/>
              <a:gdLst/>
              <a:ahLst/>
              <a:cxnLst/>
              <a:rect r="r" b="b" t="t" l="l"/>
              <a:pathLst>
                <a:path h="2489962" w="6699504">
                  <a:moveTo>
                    <a:pt x="0" y="415036"/>
                  </a:moveTo>
                  <a:cubicBezTo>
                    <a:pt x="0" y="185801"/>
                    <a:pt x="185801" y="0"/>
                    <a:pt x="415036" y="0"/>
                  </a:cubicBezTo>
                  <a:lnTo>
                    <a:pt x="6284468" y="0"/>
                  </a:lnTo>
                  <a:cubicBezTo>
                    <a:pt x="6513703" y="0"/>
                    <a:pt x="6699504" y="185801"/>
                    <a:pt x="6699504" y="415036"/>
                  </a:cubicBezTo>
                  <a:lnTo>
                    <a:pt x="6699504" y="2074926"/>
                  </a:lnTo>
                  <a:cubicBezTo>
                    <a:pt x="6699504" y="2304161"/>
                    <a:pt x="6513703" y="2489962"/>
                    <a:pt x="6284468" y="2489962"/>
                  </a:cubicBezTo>
                  <a:lnTo>
                    <a:pt x="415036" y="2489962"/>
                  </a:lnTo>
                  <a:cubicBezTo>
                    <a:pt x="185801" y="2489835"/>
                    <a:pt x="0" y="2304034"/>
                    <a:pt x="0" y="207492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12148147" y="4804353"/>
            <a:ext cx="75495" cy="1853108"/>
            <a:chOff x="0" y="0"/>
            <a:chExt cx="100660" cy="2470810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711" cy="2470785"/>
            </a:xfrm>
            <a:custGeom>
              <a:avLst/>
              <a:gdLst/>
              <a:ahLst/>
              <a:cxnLst/>
              <a:rect r="r" b="b" t="t" l="l"/>
              <a:pathLst>
                <a:path h="2470785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470785"/>
                  </a:lnTo>
                  <a:lnTo>
                    <a:pt x="0" y="2470785"/>
                  </a:lnTo>
                  <a:close/>
                </a:path>
              </a:pathLst>
            </a:custGeom>
            <a:solidFill>
              <a:srgbClr val="2CB1A6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12541577" y="5087626"/>
            <a:ext cx="4278306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 / Skills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2541577" y="5701132"/>
            <a:ext cx="4278306" cy="732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Capability selection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464116" y="7801318"/>
            <a:ext cx="1532831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Core tables: MATERIALS • CUSTOMERS • SALES_ORDERS • INVOICES • TICKETS • AUDIT_LOG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04 / EVIDENCE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 Cloud — tables &amp; demo data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Actual database evidence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3719" y="2326396"/>
            <a:ext cx="8113062" cy="6809022"/>
            <a:chOff x="0" y="0"/>
            <a:chExt cx="10817416" cy="907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817479" cy="9078723"/>
            </a:xfrm>
            <a:custGeom>
              <a:avLst/>
              <a:gdLst/>
              <a:ahLst/>
              <a:cxnLst/>
              <a:rect r="r" b="b" t="t" l="l"/>
              <a:pathLst>
                <a:path h="9078723" w="10817479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9304274" y="0"/>
                  </a:lnTo>
                  <a:cubicBezTo>
                    <a:pt x="10139934" y="0"/>
                    <a:pt x="10817479" y="677418"/>
                    <a:pt x="10817479" y="1513205"/>
                  </a:cubicBezTo>
                  <a:lnTo>
                    <a:pt x="10817479" y="7565517"/>
                  </a:lnTo>
                  <a:cubicBezTo>
                    <a:pt x="10817479" y="8401177"/>
                    <a:pt x="10140061" y="9078723"/>
                    <a:pt x="9304274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84412" y="3894439"/>
            <a:ext cx="7851686" cy="3672935"/>
            <a:chOff x="0" y="0"/>
            <a:chExt cx="10468915" cy="4897247"/>
          </a:xfrm>
        </p:grpSpPr>
        <p:sp>
          <p:nvSpPr>
            <p:cNvPr name="Freeform 12" id="12" descr="HANA Cloud Tables.png"/>
            <p:cNvSpPr/>
            <p:nvPr/>
          </p:nvSpPr>
          <p:spPr>
            <a:xfrm flipH="false" flipV="false" rot="0">
              <a:off x="0" y="0"/>
              <a:ext cx="10468864" cy="4897247"/>
            </a:xfrm>
            <a:custGeom>
              <a:avLst/>
              <a:gdLst/>
              <a:ahLst/>
              <a:cxnLst/>
              <a:rect r="r" b="b" t="t" l="l"/>
              <a:pathLst>
                <a:path h="4897247" w="10468864">
                  <a:moveTo>
                    <a:pt x="0" y="0"/>
                  </a:moveTo>
                  <a:lnTo>
                    <a:pt x="10468864" y="0"/>
                  </a:lnTo>
                  <a:lnTo>
                    <a:pt x="10468864" y="4897247"/>
                  </a:lnTo>
                  <a:lnTo>
                    <a:pt x="0" y="489724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217028" y="8707279"/>
            <a:ext cx="758644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 Cloud tables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86" y="2326396"/>
            <a:ext cx="8113062" cy="6809022"/>
            <a:chOff x="0" y="0"/>
            <a:chExt cx="10817416" cy="90786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817479" cy="9078723"/>
            </a:xfrm>
            <a:custGeom>
              <a:avLst/>
              <a:gdLst/>
              <a:ahLst/>
              <a:cxnLst/>
              <a:rect r="r" b="b" t="t" l="l"/>
              <a:pathLst>
                <a:path h="9078723" w="10817479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9304274" y="0"/>
                  </a:lnTo>
                  <a:cubicBezTo>
                    <a:pt x="10139934" y="0"/>
                    <a:pt x="10817479" y="677418"/>
                    <a:pt x="10817479" y="1513205"/>
                  </a:cubicBezTo>
                  <a:lnTo>
                    <a:pt x="10817479" y="7565517"/>
                  </a:lnTo>
                  <a:cubicBezTo>
                    <a:pt x="10817479" y="8401177"/>
                    <a:pt x="10140061" y="9078723"/>
                    <a:pt x="9304274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89078" y="3783806"/>
            <a:ext cx="7851686" cy="3894211"/>
            <a:chOff x="0" y="0"/>
            <a:chExt cx="10468915" cy="5192281"/>
          </a:xfrm>
        </p:grpSpPr>
        <p:sp>
          <p:nvSpPr>
            <p:cNvPr name="Freeform 17" id="17" descr="HANA Demo table.png"/>
            <p:cNvSpPr/>
            <p:nvPr/>
          </p:nvSpPr>
          <p:spPr>
            <a:xfrm flipH="false" flipV="false" rot="0">
              <a:off x="0" y="0"/>
              <a:ext cx="10468864" cy="5192268"/>
            </a:xfrm>
            <a:custGeom>
              <a:avLst/>
              <a:gdLst/>
              <a:ahLst/>
              <a:cxnLst/>
              <a:rect r="r" b="b" t="t" l="l"/>
              <a:pathLst>
                <a:path h="5192268" w="10468864">
                  <a:moveTo>
                    <a:pt x="0" y="0"/>
                  </a:moveTo>
                  <a:lnTo>
                    <a:pt x="10468864" y="0"/>
                  </a:lnTo>
                  <a:lnTo>
                    <a:pt x="10468864" y="5192268"/>
                  </a:lnTo>
                  <a:lnTo>
                    <a:pt x="0" y="51922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21695" y="8707279"/>
            <a:ext cx="7586443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Representative records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05 / APIS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Business capabilities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Five explicit operations exposed to the assistant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3719" y="2326396"/>
            <a:ext cx="16417738" cy="947718"/>
            <a:chOff x="0" y="0"/>
            <a:chExt cx="21890317" cy="126362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890228" cy="1263523"/>
            </a:xfrm>
            <a:custGeom>
              <a:avLst/>
              <a:gdLst/>
              <a:ahLst/>
              <a:cxnLst/>
              <a:rect r="r" b="b" t="t" l="l"/>
              <a:pathLst>
                <a:path h="1263523" w="21890228">
                  <a:moveTo>
                    <a:pt x="0" y="210566"/>
                  </a:moveTo>
                  <a:cubicBezTo>
                    <a:pt x="0" y="94234"/>
                    <a:pt x="94234" y="0"/>
                    <a:pt x="210566" y="0"/>
                  </a:cubicBezTo>
                  <a:lnTo>
                    <a:pt x="21679663" y="0"/>
                  </a:lnTo>
                  <a:cubicBezTo>
                    <a:pt x="21795995" y="0"/>
                    <a:pt x="21890228" y="94234"/>
                    <a:pt x="21890228" y="210566"/>
                  </a:cubicBezTo>
                  <a:lnTo>
                    <a:pt x="21890228" y="1052957"/>
                  </a:lnTo>
                  <a:cubicBezTo>
                    <a:pt x="21890228" y="1169289"/>
                    <a:pt x="21795995" y="1263523"/>
                    <a:pt x="21679663" y="1263523"/>
                  </a:cubicBezTo>
                  <a:lnTo>
                    <a:pt x="210566" y="1263523"/>
                  </a:lnTo>
                  <a:cubicBezTo>
                    <a:pt x="94234" y="1263650"/>
                    <a:pt x="0" y="1169289"/>
                    <a:pt x="0" y="105295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354303" y="2616822"/>
            <a:ext cx="366189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150450" y="2557710"/>
            <a:ext cx="311153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Material details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582126" y="2557710"/>
            <a:ext cx="517054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POST /api/material/details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210087" y="2557710"/>
            <a:ext cx="551370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Stock + safety stock + plant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53719" y="3602984"/>
            <a:ext cx="16417738" cy="947718"/>
            <a:chOff x="0" y="0"/>
            <a:chExt cx="21890317" cy="1263625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890228" cy="1263523"/>
            </a:xfrm>
            <a:custGeom>
              <a:avLst/>
              <a:gdLst/>
              <a:ahLst/>
              <a:cxnLst/>
              <a:rect r="r" b="b" t="t" l="l"/>
              <a:pathLst>
                <a:path h="1263523" w="21890228">
                  <a:moveTo>
                    <a:pt x="0" y="210566"/>
                  </a:moveTo>
                  <a:cubicBezTo>
                    <a:pt x="0" y="94234"/>
                    <a:pt x="94234" y="0"/>
                    <a:pt x="210566" y="0"/>
                  </a:cubicBezTo>
                  <a:lnTo>
                    <a:pt x="21679663" y="0"/>
                  </a:lnTo>
                  <a:cubicBezTo>
                    <a:pt x="21795995" y="0"/>
                    <a:pt x="21890228" y="94234"/>
                    <a:pt x="21890228" y="210566"/>
                  </a:cubicBezTo>
                  <a:lnTo>
                    <a:pt x="21890228" y="1052957"/>
                  </a:lnTo>
                  <a:cubicBezTo>
                    <a:pt x="21890228" y="1169289"/>
                    <a:pt x="21795995" y="1263523"/>
                    <a:pt x="21679663" y="1263523"/>
                  </a:cubicBezTo>
                  <a:lnTo>
                    <a:pt x="210566" y="1263523"/>
                  </a:lnTo>
                  <a:cubicBezTo>
                    <a:pt x="94234" y="1263650"/>
                    <a:pt x="0" y="1169289"/>
                    <a:pt x="0" y="105295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7" id="17"/>
          <p:cNvSpPr txBox="true"/>
          <p:nvPr/>
        </p:nvSpPr>
        <p:spPr>
          <a:xfrm rot="0">
            <a:off x="1354303" y="3893401"/>
            <a:ext cx="366189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02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150450" y="3834298"/>
            <a:ext cx="311153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Open sales orders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82126" y="3834298"/>
            <a:ext cx="517054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POST /api/sales/orders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210087" y="3834298"/>
            <a:ext cx="551370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Regional order aggregation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3719" y="4879562"/>
            <a:ext cx="16417738" cy="947718"/>
            <a:chOff x="0" y="0"/>
            <a:chExt cx="21890317" cy="1263625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890228" cy="1263523"/>
            </a:xfrm>
            <a:custGeom>
              <a:avLst/>
              <a:gdLst/>
              <a:ahLst/>
              <a:cxnLst/>
              <a:rect r="r" b="b" t="t" l="l"/>
              <a:pathLst>
                <a:path h="1263523" w="21890228">
                  <a:moveTo>
                    <a:pt x="0" y="210566"/>
                  </a:moveTo>
                  <a:cubicBezTo>
                    <a:pt x="0" y="94234"/>
                    <a:pt x="94234" y="0"/>
                    <a:pt x="210566" y="0"/>
                  </a:cubicBezTo>
                  <a:lnTo>
                    <a:pt x="21679663" y="0"/>
                  </a:lnTo>
                  <a:cubicBezTo>
                    <a:pt x="21795995" y="0"/>
                    <a:pt x="21890228" y="94234"/>
                    <a:pt x="21890228" y="210566"/>
                  </a:cubicBezTo>
                  <a:lnTo>
                    <a:pt x="21890228" y="1052957"/>
                  </a:lnTo>
                  <a:cubicBezTo>
                    <a:pt x="21890228" y="1169289"/>
                    <a:pt x="21795995" y="1263523"/>
                    <a:pt x="21679663" y="1263523"/>
                  </a:cubicBezTo>
                  <a:lnTo>
                    <a:pt x="210566" y="1263523"/>
                  </a:lnTo>
                  <a:cubicBezTo>
                    <a:pt x="94234" y="1263650"/>
                    <a:pt x="0" y="1169289"/>
                    <a:pt x="0" y="105295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354303" y="5169989"/>
            <a:ext cx="366189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03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2150450" y="5110877"/>
            <a:ext cx="311153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Customer summary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82126" y="5110877"/>
            <a:ext cx="517054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POST /api/customer/summary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210087" y="5110877"/>
            <a:ext cx="551370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Customer + invoice exposure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53719" y="6156150"/>
            <a:ext cx="16417738" cy="947718"/>
            <a:chOff x="0" y="0"/>
            <a:chExt cx="21890317" cy="1263625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890228" cy="1263523"/>
            </a:xfrm>
            <a:custGeom>
              <a:avLst/>
              <a:gdLst/>
              <a:ahLst/>
              <a:cxnLst/>
              <a:rect r="r" b="b" t="t" l="l"/>
              <a:pathLst>
                <a:path h="1263523" w="21890228">
                  <a:moveTo>
                    <a:pt x="0" y="210566"/>
                  </a:moveTo>
                  <a:cubicBezTo>
                    <a:pt x="0" y="94234"/>
                    <a:pt x="94234" y="0"/>
                    <a:pt x="210566" y="0"/>
                  </a:cubicBezTo>
                  <a:lnTo>
                    <a:pt x="21679663" y="0"/>
                  </a:lnTo>
                  <a:cubicBezTo>
                    <a:pt x="21795995" y="0"/>
                    <a:pt x="21890228" y="94234"/>
                    <a:pt x="21890228" y="210566"/>
                  </a:cubicBezTo>
                  <a:lnTo>
                    <a:pt x="21890228" y="1052957"/>
                  </a:lnTo>
                  <a:cubicBezTo>
                    <a:pt x="21890228" y="1169289"/>
                    <a:pt x="21795995" y="1263523"/>
                    <a:pt x="21679663" y="1263523"/>
                  </a:cubicBezTo>
                  <a:lnTo>
                    <a:pt x="210566" y="1263523"/>
                  </a:lnTo>
                  <a:cubicBezTo>
                    <a:pt x="94234" y="1263650"/>
                    <a:pt x="0" y="1169289"/>
                    <a:pt x="0" y="105295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29" id="29"/>
          <p:cNvSpPr txBox="true"/>
          <p:nvPr/>
        </p:nvSpPr>
        <p:spPr>
          <a:xfrm rot="0">
            <a:off x="1354303" y="6446577"/>
            <a:ext cx="366189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04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150450" y="6387465"/>
            <a:ext cx="311153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Create ticket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582126" y="6387465"/>
            <a:ext cx="517054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POST /api/ticket/create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210087" y="6387465"/>
            <a:ext cx="551370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Governed maintenance write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3719" y="7432738"/>
            <a:ext cx="16417738" cy="947718"/>
            <a:chOff x="0" y="0"/>
            <a:chExt cx="21890317" cy="1263625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1890228" cy="1263523"/>
            </a:xfrm>
            <a:custGeom>
              <a:avLst/>
              <a:gdLst/>
              <a:ahLst/>
              <a:cxnLst/>
              <a:rect r="r" b="b" t="t" l="l"/>
              <a:pathLst>
                <a:path h="1263523" w="21890228">
                  <a:moveTo>
                    <a:pt x="0" y="210566"/>
                  </a:moveTo>
                  <a:cubicBezTo>
                    <a:pt x="0" y="94234"/>
                    <a:pt x="94234" y="0"/>
                    <a:pt x="210566" y="0"/>
                  </a:cubicBezTo>
                  <a:lnTo>
                    <a:pt x="21679663" y="0"/>
                  </a:lnTo>
                  <a:cubicBezTo>
                    <a:pt x="21795995" y="0"/>
                    <a:pt x="21890228" y="94234"/>
                    <a:pt x="21890228" y="210566"/>
                  </a:cubicBezTo>
                  <a:lnTo>
                    <a:pt x="21890228" y="1052957"/>
                  </a:lnTo>
                  <a:cubicBezTo>
                    <a:pt x="21890228" y="1169289"/>
                    <a:pt x="21795995" y="1263523"/>
                    <a:pt x="21679663" y="1263523"/>
                  </a:cubicBezTo>
                  <a:lnTo>
                    <a:pt x="210566" y="1263523"/>
                  </a:lnTo>
                  <a:cubicBezTo>
                    <a:pt x="94234" y="1263650"/>
                    <a:pt x="0" y="1169289"/>
                    <a:pt x="0" y="105295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354303" y="7723156"/>
            <a:ext cx="366189" cy="192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05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50450" y="7664053"/>
            <a:ext cx="3111532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1"/>
              </a:lnSpc>
            </a:pPr>
            <a:r>
              <a:rPr lang="en-US" sz="18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Overdue invoices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582126" y="7664053"/>
            <a:ext cx="5170541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POST /api/invoices/overdue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1210087" y="7664053"/>
            <a:ext cx="5513708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Overdue value + recommendation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06 / EVIDENCE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Material + Sales outputs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Two high-value operational queries, shown with their actual responses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5092" y="2353847"/>
            <a:ext cx="8181699" cy="6740395"/>
            <a:chOff x="0" y="0"/>
            <a:chExt cx="10908932" cy="89871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08919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908919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411081" y="0"/>
                  </a:lnTo>
                  <a:cubicBezTo>
                    <a:pt x="10238360" y="0"/>
                    <a:pt x="10908919" y="670687"/>
                    <a:pt x="10908919" y="1497838"/>
                  </a:cubicBezTo>
                  <a:lnTo>
                    <a:pt x="10908919" y="7489317"/>
                  </a:lnTo>
                  <a:cubicBezTo>
                    <a:pt x="10908919" y="8316595"/>
                    <a:pt x="10238232" y="8987155"/>
                    <a:pt x="9411081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15775" y="3624748"/>
            <a:ext cx="7920323" cy="4198582"/>
            <a:chOff x="0" y="0"/>
            <a:chExt cx="10560431" cy="5598109"/>
          </a:xfrm>
        </p:grpSpPr>
        <p:sp>
          <p:nvSpPr>
            <p:cNvPr name="Freeform 12" id="12" descr="API_Material2.png"/>
            <p:cNvSpPr/>
            <p:nvPr/>
          </p:nvSpPr>
          <p:spPr>
            <a:xfrm flipH="false" flipV="false" rot="0">
              <a:off x="0" y="0"/>
              <a:ext cx="10560431" cy="5598160"/>
            </a:xfrm>
            <a:custGeom>
              <a:avLst/>
              <a:gdLst/>
              <a:ahLst/>
              <a:cxnLst/>
              <a:rect r="r" b="b" t="t" l="l"/>
              <a:pathLst>
                <a:path h="5598160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5598160"/>
                  </a:lnTo>
                  <a:lnTo>
                    <a:pt x="0" y="55981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8401" y="8666102"/>
            <a:ext cx="7655081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Material API response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86" y="2353847"/>
            <a:ext cx="8181699" cy="6740395"/>
            <a:chOff x="0" y="0"/>
            <a:chExt cx="10908932" cy="8987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08919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908919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411081" y="0"/>
                  </a:lnTo>
                  <a:cubicBezTo>
                    <a:pt x="10238360" y="0"/>
                    <a:pt x="10908919" y="670687"/>
                    <a:pt x="10908919" y="1497838"/>
                  </a:cubicBezTo>
                  <a:lnTo>
                    <a:pt x="10908919" y="7489317"/>
                  </a:lnTo>
                  <a:cubicBezTo>
                    <a:pt x="10908919" y="8316595"/>
                    <a:pt x="10238232" y="8987155"/>
                    <a:pt x="9411081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89078" y="3768662"/>
            <a:ext cx="7920323" cy="3910765"/>
            <a:chOff x="0" y="0"/>
            <a:chExt cx="10560431" cy="5214353"/>
          </a:xfrm>
        </p:grpSpPr>
        <p:sp>
          <p:nvSpPr>
            <p:cNvPr name="Freeform 17" id="17" descr="SALES_Order2.png"/>
            <p:cNvSpPr/>
            <p:nvPr/>
          </p:nvSpPr>
          <p:spPr>
            <a:xfrm flipH="false" flipV="false" rot="0">
              <a:off x="0" y="0"/>
              <a:ext cx="10560431" cy="5214366"/>
            </a:xfrm>
            <a:custGeom>
              <a:avLst/>
              <a:gdLst/>
              <a:ahLst/>
              <a:cxnLst/>
              <a:rect r="r" b="b" t="t" l="l"/>
              <a:pathLst>
                <a:path h="5214366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5214366"/>
                  </a:lnTo>
                  <a:lnTo>
                    <a:pt x="0" y="521436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21695" y="8666102"/>
            <a:ext cx="7655081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Sales Orders API response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07 / EVIDENCE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Customer + Ticket outputs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Read and governed-write evidence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5092" y="2353847"/>
            <a:ext cx="8181699" cy="6740395"/>
            <a:chOff x="0" y="0"/>
            <a:chExt cx="10908932" cy="89871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08919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908919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411081" y="0"/>
                  </a:lnTo>
                  <a:cubicBezTo>
                    <a:pt x="10238360" y="0"/>
                    <a:pt x="10908919" y="670687"/>
                    <a:pt x="10908919" y="1497838"/>
                  </a:cubicBezTo>
                  <a:lnTo>
                    <a:pt x="10908919" y="7489317"/>
                  </a:lnTo>
                  <a:cubicBezTo>
                    <a:pt x="10908919" y="8316595"/>
                    <a:pt x="10238232" y="8987155"/>
                    <a:pt x="9411081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15775" y="3854129"/>
            <a:ext cx="7920323" cy="3739829"/>
            <a:chOff x="0" y="0"/>
            <a:chExt cx="10560431" cy="4986439"/>
          </a:xfrm>
        </p:grpSpPr>
        <p:sp>
          <p:nvSpPr>
            <p:cNvPr name="Freeform 12" id="12" descr="Customer2.png"/>
            <p:cNvSpPr/>
            <p:nvPr/>
          </p:nvSpPr>
          <p:spPr>
            <a:xfrm flipH="false" flipV="false" rot="0">
              <a:off x="0" y="0"/>
              <a:ext cx="10560431" cy="4986401"/>
            </a:xfrm>
            <a:custGeom>
              <a:avLst/>
              <a:gdLst/>
              <a:ahLst/>
              <a:cxnLst/>
              <a:rect r="r" b="b" t="t" l="l"/>
              <a:pathLst>
                <a:path h="4986401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4986401"/>
                  </a:lnTo>
                  <a:lnTo>
                    <a:pt x="0" y="498640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8401" y="8666102"/>
            <a:ext cx="7655081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Customer summary response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86" y="2353847"/>
            <a:ext cx="8181699" cy="6740395"/>
            <a:chOff x="0" y="0"/>
            <a:chExt cx="10908932" cy="8987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08919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908919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411081" y="0"/>
                  </a:lnTo>
                  <a:cubicBezTo>
                    <a:pt x="10238360" y="0"/>
                    <a:pt x="10908919" y="670687"/>
                    <a:pt x="10908919" y="1497838"/>
                  </a:cubicBezTo>
                  <a:lnTo>
                    <a:pt x="10908919" y="7489317"/>
                  </a:lnTo>
                  <a:cubicBezTo>
                    <a:pt x="10908919" y="8316595"/>
                    <a:pt x="10238232" y="8987155"/>
                    <a:pt x="9411081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89078" y="3633797"/>
            <a:ext cx="7920323" cy="4180494"/>
            <a:chOff x="0" y="0"/>
            <a:chExt cx="10560431" cy="5573992"/>
          </a:xfrm>
        </p:grpSpPr>
        <p:sp>
          <p:nvSpPr>
            <p:cNvPr name="Freeform 17" id="17" descr="Create_Ticket1.png"/>
            <p:cNvSpPr/>
            <p:nvPr/>
          </p:nvSpPr>
          <p:spPr>
            <a:xfrm flipH="false" flipV="false" rot="0">
              <a:off x="0" y="0"/>
              <a:ext cx="10560431" cy="5574030"/>
            </a:xfrm>
            <a:custGeom>
              <a:avLst/>
              <a:gdLst/>
              <a:ahLst/>
              <a:cxnLst/>
              <a:rect r="r" b="b" t="t" l="l"/>
              <a:pathLst>
                <a:path h="5574030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5574030"/>
                  </a:lnTo>
                  <a:lnTo>
                    <a:pt x="0" y="557403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21695" y="8666102"/>
            <a:ext cx="7655081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Ticket creation response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08 / GOVERNANCE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Controlled ticket creation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 write operation is protected by role validation and audit logging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3719" y="2944092"/>
            <a:ext cx="3651885" cy="3377346"/>
            <a:chOff x="0" y="0"/>
            <a:chExt cx="4869180" cy="450312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869180" cy="4503166"/>
            </a:xfrm>
            <a:custGeom>
              <a:avLst/>
              <a:gdLst/>
              <a:ahLst/>
              <a:cxnLst/>
              <a:rect r="r" b="b" t="t" l="l"/>
              <a:pathLst>
                <a:path h="4503166" w="486918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4118610" y="0"/>
                  </a:lnTo>
                  <a:cubicBezTo>
                    <a:pt x="4533138" y="0"/>
                    <a:pt x="4869180" y="336042"/>
                    <a:pt x="4869180" y="750570"/>
                  </a:cubicBezTo>
                  <a:lnTo>
                    <a:pt x="4869180" y="3752596"/>
                  </a:lnTo>
                  <a:cubicBezTo>
                    <a:pt x="4869180" y="4167124"/>
                    <a:pt x="4533138" y="4503166"/>
                    <a:pt x="411861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2951245"/>
            <a:ext cx="75495" cy="3363049"/>
            <a:chOff x="0" y="0"/>
            <a:chExt cx="100660" cy="44840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11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484116"/>
                  </a:lnTo>
                  <a:lnTo>
                    <a:pt x="0" y="4484116"/>
                  </a:lnTo>
                  <a:close/>
                </a:path>
              </a:pathLst>
            </a:custGeom>
            <a:solidFill>
              <a:srgbClr val="4185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4293" y="3234519"/>
            <a:ext cx="290563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REQUEST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293" y="3848024"/>
            <a:ext cx="2905630" cy="22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Ticket details enter the service.</a:t>
            </a:r>
          </a:p>
        </p:txBody>
      </p:sp>
      <p:sp>
        <p:nvSpPr>
          <p:cNvPr name="AutoShape 15" id="15"/>
          <p:cNvSpPr/>
          <p:nvPr/>
        </p:nvSpPr>
        <p:spPr>
          <a:xfrm rot="252300">
            <a:off x="4578687" y="4630112"/>
            <a:ext cx="519970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5209003" y="2944092"/>
            <a:ext cx="3651885" cy="3377346"/>
            <a:chOff x="0" y="0"/>
            <a:chExt cx="4869180" cy="450312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869180" cy="4503166"/>
            </a:xfrm>
            <a:custGeom>
              <a:avLst/>
              <a:gdLst/>
              <a:ahLst/>
              <a:cxnLst/>
              <a:rect r="r" b="b" t="t" l="l"/>
              <a:pathLst>
                <a:path h="4503166" w="486918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4118610" y="0"/>
                  </a:lnTo>
                  <a:cubicBezTo>
                    <a:pt x="4533138" y="0"/>
                    <a:pt x="4869180" y="336042"/>
                    <a:pt x="4869180" y="750570"/>
                  </a:cubicBezTo>
                  <a:lnTo>
                    <a:pt x="4869180" y="3752596"/>
                  </a:lnTo>
                  <a:cubicBezTo>
                    <a:pt x="4869180" y="4167124"/>
                    <a:pt x="4533138" y="4503166"/>
                    <a:pt x="411861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216157" y="2951245"/>
            <a:ext cx="75495" cy="3363049"/>
            <a:chOff x="0" y="0"/>
            <a:chExt cx="100660" cy="44840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0711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484116"/>
                  </a:lnTo>
                  <a:lnTo>
                    <a:pt x="0" y="4484116"/>
                  </a:lnTo>
                  <a:close/>
                </a:path>
              </a:pathLst>
            </a:custGeom>
            <a:solidFill>
              <a:srgbClr val="8468FF"/>
            </a:solidFill>
          </p:spPr>
        </p:sp>
      </p:grpSp>
      <p:sp>
        <p:nvSpPr>
          <p:cNvPr name="TextBox 20" id="20"/>
          <p:cNvSpPr txBox="true"/>
          <p:nvPr/>
        </p:nvSpPr>
        <p:spPr>
          <a:xfrm rot="0">
            <a:off x="5609577" y="3234519"/>
            <a:ext cx="290563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ROLE CHECK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609577" y="3848024"/>
            <a:ext cx="2905630" cy="22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Only approved business roles can create.</a:t>
            </a:r>
          </a:p>
        </p:txBody>
      </p:sp>
      <p:sp>
        <p:nvSpPr>
          <p:cNvPr name="AutoShape 22" id="22"/>
          <p:cNvSpPr/>
          <p:nvPr/>
        </p:nvSpPr>
        <p:spPr>
          <a:xfrm rot="252300">
            <a:off x="8833971" y="4630112"/>
            <a:ext cx="519970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9464288" y="2944092"/>
            <a:ext cx="3651885" cy="3377346"/>
            <a:chOff x="0" y="0"/>
            <a:chExt cx="4869180" cy="450312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869180" cy="4503166"/>
            </a:xfrm>
            <a:custGeom>
              <a:avLst/>
              <a:gdLst/>
              <a:ahLst/>
              <a:cxnLst/>
              <a:rect r="r" b="b" t="t" l="l"/>
              <a:pathLst>
                <a:path h="4503166" w="486918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4118610" y="0"/>
                  </a:lnTo>
                  <a:cubicBezTo>
                    <a:pt x="4533138" y="0"/>
                    <a:pt x="4869180" y="336042"/>
                    <a:pt x="4869180" y="750570"/>
                  </a:cubicBezTo>
                  <a:lnTo>
                    <a:pt x="4869180" y="3752596"/>
                  </a:lnTo>
                  <a:cubicBezTo>
                    <a:pt x="4869180" y="4167124"/>
                    <a:pt x="4533138" y="4503166"/>
                    <a:pt x="411861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9471441" y="2951245"/>
            <a:ext cx="75495" cy="3363049"/>
            <a:chOff x="0" y="0"/>
            <a:chExt cx="100660" cy="4484065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0711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484116"/>
                  </a:lnTo>
                  <a:lnTo>
                    <a:pt x="0" y="4484116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27" id="27"/>
          <p:cNvSpPr txBox="true"/>
          <p:nvPr/>
        </p:nvSpPr>
        <p:spPr>
          <a:xfrm rot="0">
            <a:off x="9864871" y="3234519"/>
            <a:ext cx="290563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CREATE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64871" y="3848024"/>
            <a:ext cx="2905630" cy="22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Ticket is inserted into the operational table.</a:t>
            </a:r>
          </a:p>
        </p:txBody>
      </p:sp>
      <p:sp>
        <p:nvSpPr>
          <p:cNvPr name="AutoShape 29" id="29"/>
          <p:cNvSpPr/>
          <p:nvPr/>
        </p:nvSpPr>
        <p:spPr>
          <a:xfrm rot="252300">
            <a:off x="13089255" y="4630112"/>
            <a:ext cx="519970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3719572" y="2944092"/>
            <a:ext cx="3651885" cy="3377346"/>
            <a:chOff x="0" y="0"/>
            <a:chExt cx="4869180" cy="450312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4869180" cy="4503166"/>
            </a:xfrm>
            <a:custGeom>
              <a:avLst/>
              <a:gdLst/>
              <a:ahLst/>
              <a:cxnLst/>
              <a:rect r="r" b="b" t="t" l="l"/>
              <a:pathLst>
                <a:path h="4503166" w="4869180">
                  <a:moveTo>
                    <a:pt x="0" y="750570"/>
                  </a:moveTo>
                  <a:cubicBezTo>
                    <a:pt x="0" y="336042"/>
                    <a:pt x="336042" y="0"/>
                    <a:pt x="750570" y="0"/>
                  </a:cubicBezTo>
                  <a:lnTo>
                    <a:pt x="4118610" y="0"/>
                  </a:lnTo>
                  <a:cubicBezTo>
                    <a:pt x="4533138" y="0"/>
                    <a:pt x="4869180" y="336042"/>
                    <a:pt x="4869180" y="750570"/>
                  </a:cubicBezTo>
                  <a:lnTo>
                    <a:pt x="4869180" y="3752596"/>
                  </a:lnTo>
                  <a:cubicBezTo>
                    <a:pt x="4869180" y="4167124"/>
                    <a:pt x="4533138" y="4503166"/>
                    <a:pt x="4118610" y="4503166"/>
                  </a:cubicBezTo>
                  <a:lnTo>
                    <a:pt x="750570" y="4503166"/>
                  </a:lnTo>
                  <a:cubicBezTo>
                    <a:pt x="336042" y="4503166"/>
                    <a:pt x="0" y="4167124"/>
                    <a:pt x="0" y="3752596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32" id="32"/>
          <p:cNvGrpSpPr/>
          <p:nvPr/>
        </p:nvGrpSpPr>
        <p:grpSpPr>
          <a:xfrm rot="0">
            <a:off x="13726725" y="2951245"/>
            <a:ext cx="75495" cy="3363049"/>
            <a:chOff x="0" y="0"/>
            <a:chExt cx="100660" cy="4484065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100711" cy="4484116"/>
            </a:xfrm>
            <a:custGeom>
              <a:avLst/>
              <a:gdLst/>
              <a:ahLst/>
              <a:cxnLst/>
              <a:rect r="r" b="b" t="t" l="l"/>
              <a:pathLst>
                <a:path h="4484116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4484116"/>
                  </a:lnTo>
                  <a:lnTo>
                    <a:pt x="0" y="4484116"/>
                  </a:lnTo>
                  <a:close/>
                </a:path>
              </a:pathLst>
            </a:custGeom>
            <a:solidFill>
              <a:srgbClr val="41CD89"/>
            </a:solidFill>
          </p:spPr>
        </p:sp>
      </p:grpSp>
      <p:sp>
        <p:nvSpPr>
          <p:cNvPr name="TextBox 34" id="34"/>
          <p:cNvSpPr txBox="true"/>
          <p:nvPr/>
        </p:nvSpPr>
        <p:spPr>
          <a:xfrm rot="0">
            <a:off x="14120155" y="3234519"/>
            <a:ext cx="2905630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AUDIT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4120155" y="3848024"/>
            <a:ext cx="2905630" cy="2242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Outcome is recorded with masked parameters.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150450" y="7311361"/>
            <a:ext cx="13955649" cy="467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This separates AI intent from authorization and database writes.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09 / MCP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 tool facade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The same backend capabilities are made reusable for AI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0984" y="2189131"/>
            <a:ext cx="7289463" cy="728091"/>
            <a:chOff x="0" y="0"/>
            <a:chExt cx="9719285" cy="97078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19310" cy="970788"/>
            </a:xfrm>
            <a:custGeom>
              <a:avLst/>
              <a:gdLst/>
              <a:ahLst/>
              <a:cxnLst/>
              <a:rect r="r" b="b" t="t" l="l"/>
              <a:pathLst>
                <a:path h="970788" w="9719310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9557512" y="0"/>
                  </a:lnTo>
                  <a:cubicBezTo>
                    <a:pt x="9646920" y="0"/>
                    <a:pt x="9719310" y="72390"/>
                    <a:pt x="9719310" y="161798"/>
                  </a:cubicBezTo>
                  <a:lnTo>
                    <a:pt x="9719310" y="808990"/>
                  </a:lnTo>
                  <a:cubicBezTo>
                    <a:pt x="9719310" y="898398"/>
                    <a:pt x="9646920" y="970788"/>
                    <a:pt x="9557512" y="970788"/>
                  </a:cubicBezTo>
                  <a:lnTo>
                    <a:pt x="161798" y="970788"/>
                  </a:lnTo>
                  <a:cubicBezTo>
                    <a:pt x="72390" y="970788"/>
                    <a:pt x="0" y="898398"/>
                    <a:pt x="0" y="808990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1464116" y="2420445"/>
            <a:ext cx="654321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get_material_details</a:t>
            </a:r>
          </a:p>
        </p:txBody>
      </p:sp>
      <p:sp>
        <p:nvSpPr>
          <p:cNvPr name="AutoShape 12" id="12"/>
          <p:cNvSpPr/>
          <p:nvPr/>
        </p:nvSpPr>
        <p:spPr>
          <a:xfrm rot="97620">
            <a:off x="8491233" y="2543642"/>
            <a:ext cx="1342711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1090984" y="3149994"/>
            <a:ext cx="7289463" cy="728091"/>
            <a:chOff x="0" y="0"/>
            <a:chExt cx="9719285" cy="97078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719310" cy="970788"/>
            </a:xfrm>
            <a:custGeom>
              <a:avLst/>
              <a:gdLst/>
              <a:ahLst/>
              <a:cxnLst/>
              <a:rect r="r" b="b" t="t" l="l"/>
              <a:pathLst>
                <a:path h="970788" w="9719310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9557512" y="0"/>
                  </a:lnTo>
                  <a:cubicBezTo>
                    <a:pt x="9646920" y="0"/>
                    <a:pt x="9719310" y="72390"/>
                    <a:pt x="9719310" y="161798"/>
                  </a:cubicBezTo>
                  <a:lnTo>
                    <a:pt x="9719310" y="808990"/>
                  </a:lnTo>
                  <a:cubicBezTo>
                    <a:pt x="9719310" y="898398"/>
                    <a:pt x="9646920" y="970788"/>
                    <a:pt x="9557512" y="970788"/>
                  </a:cubicBezTo>
                  <a:lnTo>
                    <a:pt x="161798" y="970788"/>
                  </a:lnTo>
                  <a:cubicBezTo>
                    <a:pt x="72390" y="970788"/>
                    <a:pt x="0" y="898398"/>
                    <a:pt x="0" y="808990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1464116" y="3381308"/>
            <a:ext cx="654321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get_open_sales_orders</a:t>
            </a:r>
          </a:p>
        </p:txBody>
      </p:sp>
      <p:sp>
        <p:nvSpPr>
          <p:cNvPr name="AutoShape 16" id="16"/>
          <p:cNvSpPr/>
          <p:nvPr/>
        </p:nvSpPr>
        <p:spPr>
          <a:xfrm rot="97620">
            <a:off x="8491233" y="3504514"/>
            <a:ext cx="1342711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1090984" y="4110866"/>
            <a:ext cx="7289463" cy="728091"/>
            <a:chOff x="0" y="0"/>
            <a:chExt cx="9719285" cy="970788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719310" cy="970788"/>
            </a:xfrm>
            <a:custGeom>
              <a:avLst/>
              <a:gdLst/>
              <a:ahLst/>
              <a:cxnLst/>
              <a:rect r="r" b="b" t="t" l="l"/>
              <a:pathLst>
                <a:path h="970788" w="9719310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9557512" y="0"/>
                  </a:lnTo>
                  <a:cubicBezTo>
                    <a:pt x="9646920" y="0"/>
                    <a:pt x="9719310" y="72390"/>
                    <a:pt x="9719310" y="161798"/>
                  </a:cubicBezTo>
                  <a:lnTo>
                    <a:pt x="9719310" y="808990"/>
                  </a:lnTo>
                  <a:cubicBezTo>
                    <a:pt x="9719310" y="898398"/>
                    <a:pt x="9646920" y="970788"/>
                    <a:pt x="9557512" y="970788"/>
                  </a:cubicBezTo>
                  <a:lnTo>
                    <a:pt x="161798" y="970788"/>
                  </a:lnTo>
                  <a:cubicBezTo>
                    <a:pt x="72390" y="970788"/>
                    <a:pt x="0" y="898398"/>
                    <a:pt x="0" y="808990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1464116" y="4342181"/>
            <a:ext cx="654321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get_customer_summary</a:t>
            </a:r>
          </a:p>
        </p:txBody>
      </p:sp>
      <p:sp>
        <p:nvSpPr>
          <p:cNvPr name="AutoShape 20" id="20"/>
          <p:cNvSpPr/>
          <p:nvPr/>
        </p:nvSpPr>
        <p:spPr>
          <a:xfrm rot="97620">
            <a:off x="8491233" y="4465387"/>
            <a:ext cx="1342711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1090984" y="5071739"/>
            <a:ext cx="7289463" cy="728091"/>
            <a:chOff x="0" y="0"/>
            <a:chExt cx="9719285" cy="97078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19310" cy="970788"/>
            </a:xfrm>
            <a:custGeom>
              <a:avLst/>
              <a:gdLst/>
              <a:ahLst/>
              <a:cxnLst/>
              <a:rect r="r" b="b" t="t" l="l"/>
              <a:pathLst>
                <a:path h="970788" w="9719310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9557512" y="0"/>
                  </a:lnTo>
                  <a:cubicBezTo>
                    <a:pt x="9646920" y="0"/>
                    <a:pt x="9719310" y="72390"/>
                    <a:pt x="9719310" y="161798"/>
                  </a:cubicBezTo>
                  <a:lnTo>
                    <a:pt x="9719310" y="808990"/>
                  </a:lnTo>
                  <a:cubicBezTo>
                    <a:pt x="9719310" y="898398"/>
                    <a:pt x="9646920" y="970788"/>
                    <a:pt x="9557512" y="970788"/>
                  </a:cubicBezTo>
                  <a:lnTo>
                    <a:pt x="161798" y="970788"/>
                  </a:lnTo>
                  <a:cubicBezTo>
                    <a:pt x="72390" y="970788"/>
                    <a:pt x="0" y="898398"/>
                    <a:pt x="0" y="808990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1464116" y="5303053"/>
            <a:ext cx="654321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create_ticket</a:t>
            </a:r>
          </a:p>
        </p:txBody>
      </p:sp>
      <p:sp>
        <p:nvSpPr>
          <p:cNvPr name="AutoShape 24" id="24"/>
          <p:cNvSpPr/>
          <p:nvPr/>
        </p:nvSpPr>
        <p:spPr>
          <a:xfrm rot="97620">
            <a:off x="8491233" y="5426259"/>
            <a:ext cx="1342711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090984" y="6032611"/>
            <a:ext cx="7289463" cy="728091"/>
            <a:chOff x="0" y="0"/>
            <a:chExt cx="9719285" cy="970788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9719310" cy="970788"/>
            </a:xfrm>
            <a:custGeom>
              <a:avLst/>
              <a:gdLst/>
              <a:ahLst/>
              <a:cxnLst/>
              <a:rect r="r" b="b" t="t" l="l"/>
              <a:pathLst>
                <a:path h="970788" w="9719310">
                  <a:moveTo>
                    <a:pt x="0" y="161798"/>
                  </a:moveTo>
                  <a:cubicBezTo>
                    <a:pt x="0" y="72390"/>
                    <a:pt x="72390" y="0"/>
                    <a:pt x="161798" y="0"/>
                  </a:cubicBezTo>
                  <a:lnTo>
                    <a:pt x="9557512" y="0"/>
                  </a:lnTo>
                  <a:cubicBezTo>
                    <a:pt x="9646920" y="0"/>
                    <a:pt x="9719310" y="72390"/>
                    <a:pt x="9719310" y="161798"/>
                  </a:cubicBezTo>
                  <a:lnTo>
                    <a:pt x="9719310" y="808990"/>
                  </a:lnTo>
                  <a:cubicBezTo>
                    <a:pt x="9719310" y="898398"/>
                    <a:pt x="9646920" y="970788"/>
                    <a:pt x="9557512" y="970788"/>
                  </a:cubicBezTo>
                  <a:lnTo>
                    <a:pt x="161798" y="970788"/>
                  </a:lnTo>
                  <a:cubicBezTo>
                    <a:pt x="72390" y="970788"/>
                    <a:pt x="0" y="898398"/>
                    <a:pt x="0" y="808990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464116" y="6263926"/>
            <a:ext cx="6543218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summarize_overdue_invoices</a:t>
            </a:r>
          </a:p>
        </p:txBody>
      </p:sp>
      <p:sp>
        <p:nvSpPr>
          <p:cNvPr name="AutoShape 28" id="28"/>
          <p:cNvSpPr/>
          <p:nvPr/>
        </p:nvSpPr>
        <p:spPr>
          <a:xfrm rot="97620">
            <a:off x="8491233" y="6387132"/>
            <a:ext cx="1342711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0150631" y="3493170"/>
            <a:ext cx="2896914" cy="1524238"/>
            <a:chOff x="0" y="0"/>
            <a:chExt cx="3862553" cy="2032318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3862578" cy="2032254"/>
            </a:xfrm>
            <a:custGeom>
              <a:avLst/>
              <a:gdLst/>
              <a:ahLst/>
              <a:cxnLst/>
              <a:rect r="r" b="b" t="t" l="l"/>
              <a:pathLst>
                <a:path h="2032254" w="38625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523869" y="0"/>
                  </a:lnTo>
                  <a:cubicBezTo>
                    <a:pt x="3710940" y="0"/>
                    <a:pt x="3862578" y="151638"/>
                    <a:pt x="3862578" y="338709"/>
                  </a:cubicBezTo>
                  <a:lnTo>
                    <a:pt x="3862578" y="1693545"/>
                  </a:lnTo>
                  <a:cubicBezTo>
                    <a:pt x="3862578" y="1880616"/>
                    <a:pt x="3710940" y="2032254"/>
                    <a:pt x="3523869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30D2D6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0249214" y="4030675"/>
            <a:ext cx="2699728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AutoShape 32" id="32"/>
          <p:cNvSpPr/>
          <p:nvPr/>
        </p:nvSpPr>
        <p:spPr>
          <a:xfrm rot="131160">
            <a:off x="13089588" y="4245759"/>
            <a:ext cx="999725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4337278" y="3493170"/>
            <a:ext cx="2896914" cy="1524238"/>
            <a:chOff x="0" y="0"/>
            <a:chExt cx="3862553" cy="2032318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3862578" cy="2032254"/>
            </a:xfrm>
            <a:custGeom>
              <a:avLst/>
              <a:gdLst/>
              <a:ahLst/>
              <a:cxnLst/>
              <a:rect r="r" b="b" t="t" l="l"/>
              <a:pathLst>
                <a:path h="2032254" w="3862578">
                  <a:moveTo>
                    <a:pt x="0" y="338709"/>
                  </a:moveTo>
                  <a:cubicBezTo>
                    <a:pt x="0" y="151638"/>
                    <a:pt x="151638" y="0"/>
                    <a:pt x="338709" y="0"/>
                  </a:cubicBezTo>
                  <a:lnTo>
                    <a:pt x="3523869" y="0"/>
                  </a:lnTo>
                  <a:cubicBezTo>
                    <a:pt x="3710940" y="0"/>
                    <a:pt x="3862578" y="151638"/>
                    <a:pt x="3862578" y="338709"/>
                  </a:cubicBezTo>
                  <a:lnTo>
                    <a:pt x="3862578" y="1693545"/>
                  </a:lnTo>
                  <a:cubicBezTo>
                    <a:pt x="3862578" y="1880616"/>
                    <a:pt x="3710940" y="2032254"/>
                    <a:pt x="3523869" y="2032254"/>
                  </a:cubicBezTo>
                  <a:lnTo>
                    <a:pt x="338709" y="2032254"/>
                  </a:lnTo>
                  <a:cubicBezTo>
                    <a:pt x="151638" y="2032381"/>
                    <a:pt x="0" y="1880616"/>
                    <a:pt x="0" y="16935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CD89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4435871" y="4030675"/>
            <a:ext cx="2699728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287714" y="7526788"/>
            <a:ext cx="13543845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41"/>
              </a:lnSpc>
            </a:pPr>
            <a:r>
              <a:rPr lang="en-US" sz="19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Tool names remain explicit and map to defined backend capabilities.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09 / EVIDENCE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 runtime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Tool configuration + running server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885092" y="2353847"/>
            <a:ext cx="8181699" cy="6740395"/>
            <a:chOff x="0" y="0"/>
            <a:chExt cx="10908932" cy="898719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908919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908919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411081" y="0"/>
                  </a:lnTo>
                  <a:cubicBezTo>
                    <a:pt x="10238360" y="0"/>
                    <a:pt x="10908919" y="670687"/>
                    <a:pt x="10908919" y="1497838"/>
                  </a:cubicBezTo>
                  <a:lnTo>
                    <a:pt x="10908919" y="7489317"/>
                  </a:lnTo>
                  <a:cubicBezTo>
                    <a:pt x="10908919" y="8316595"/>
                    <a:pt x="10238232" y="8987155"/>
                    <a:pt x="9411081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15775" y="3642493"/>
            <a:ext cx="7920323" cy="4163092"/>
            <a:chOff x="0" y="0"/>
            <a:chExt cx="10560431" cy="5550789"/>
          </a:xfrm>
        </p:grpSpPr>
        <p:sp>
          <p:nvSpPr>
            <p:cNvPr name="Freeform 12" id="12" descr="JouleOps_MCP.png"/>
            <p:cNvSpPr/>
            <p:nvPr/>
          </p:nvSpPr>
          <p:spPr>
            <a:xfrm flipH="false" flipV="false" rot="0">
              <a:off x="0" y="0"/>
              <a:ext cx="10560431" cy="5550789"/>
            </a:xfrm>
            <a:custGeom>
              <a:avLst/>
              <a:gdLst/>
              <a:ahLst/>
              <a:cxnLst/>
              <a:rect r="r" b="b" t="t" l="l"/>
              <a:pathLst>
                <a:path h="5550789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5550789"/>
                  </a:lnTo>
                  <a:lnTo>
                    <a:pt x="0" y="555078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148401" y="8666102"/>
            <a:ext cx="7655081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 tools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58386" y="2353847"/>
            <a:ext cx="8181699" cy="6740395"/>
            <a:chOff x="0" y="0"/>
            <a:chExt cx="10908932" cy="898719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908919" cy="8987155"/>
            </a:xfrm>
            <a:custGeom>
              <a:avLst/>
              <a:gdLst/>
              <a:ahLst/>
              <a:cxnLst/>
              <a:rect r="r" b="b" t="t" l="l"/>
              <a:pathLst>
                <a:path h="8987155" w="10908919">
                  <a:moveTo>
                    <a:pt x="0" y="1497838"/>
                  </a:moveTo>
                  <a:cubicBezTo>
                    <a:pt x="0" y="670687"/>
                    <a:pt x="670687" y="0"/>
                    <a:pt x="1497838" y="0"/>
                  </a:cubicBezTo>
                  <a:lnTo>
                    <a:pt x="9411081" y="0"/>
                  </a:lnTo>
                  <a:cubicBezTo>
                    <a:pt x="10238360" y="0"/>
                    <a:pt x="10908919" y="670687"/>
                    <a:pt x="10908919" y="1497838"/>
                  </a:cubicBezTo>
                  <a:lnTo>
                    <a:pt x="10908919" y="7489317"/>
                  </a:lnTo>
                  <a:cubicBezTo>
                    <a:pt x="10908919" y="8316595"/>
                    <a:pt x="10238232" y="8987155"/>
                    <a:pt x="9411081" y="8987155"/>
                  </a:cubicBezTo>
                  <a:lnTo>
                    <a:pt x="1497838" y="8987155"/>
                  </a:lnTo>
                  <a:cubicBezTo>
                    <a:pt x="670687" y="8987155"/>
                    <a:pt x="0" y="8316595"/>
                    <a:pt x="0" y="74893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89078" y="4239416"/>
            <a:ext cx="7920323" cy="2969247"/>
            <a:chOff x="0" y="0"/>
            <a:chExt cx="10560431" cy="3958996"/>
          </a:xfrm>
        </p:grpSpPr>
        <p:sp>
          <p:nvSpPr>
            <p:cNvPr name="Freeform 17" id="17" descr="mcp_server_run.png"/>
            <p:cNvSpPr/>
            <p:nvPr/>
          </p:nvSpPr>
          <p:spPr>
            <a:xfrm flipH="false" flipV="false" rot="0">
              <a:off x="0" y="0"/>
              <a:ext cx="10560431" cy="3958971"/>
            </a:xfrm>
            <a:custGeom>
              <a:avLst/>
              <a:gdLst/>
              <a:ahLst/>
              <a:cxnLst/>
              <a:rect r="r" b="b" t="t" l="l"/>
              <a:pathLst>
                <a:path h="3958971" w="10560431">
                  <a:moveTo>
                    <a:pt x="0" y="0"/>
                  </a:moveTo>
                  <a:lnTo>
                    <a:pt x="10560431" y="0"/>
                  </a:lnTo>
                  <a:lnTo>
                    <a:pt x="10560431" y="3958971"/>
                  </a:lnTo>
                  <a:lnTo>
                    <a:pt x="0" y="395897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521695" y="8666102"/>
            <a:ext cx="7655081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 server runtime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10 / RUNTIME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FastAPI validation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Local server, Swagger endpoints and health response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679190" y="2353847"/>
            <a:ext cx="5504993" cy="6671758"/>
            <a:chOff x="0" y="0"/>
            <a:chExt cx="7339990" cy="889567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7340092" cy="8895715"/>
            </a:xfrm>
            <a:custGeom>
              <a:avLst/>
              <a:gdLst/>
              <a:ahLst/>
              <a:cxnLst/>
              <a:rect r="r" b="b" t="t" l="l"/>
              <a:pathLst>
                <a:path h="8895715" w="7340092">
                  <a:moveTo>
                    <a:pt x="0" y="1223391"/>
                  </a:moveTo>
                  <a:cubicBezTo>
                    <a:pt x="0" y="547751"/>
                    <a:pt x="547751" y="0"/>
                    <a:pt x="1223391" y="0"/>
                  </a:cubicBezTo>
                  <a:lnTo>
                    <a:pt x="6116701" y="0"/>
                  </a:lnTo>
                  <a:cubicBezTo>
                    <a:pt x="6792341" y="0"/>
                    <a:pt x="7340092" y="547751"/>
                    <a:pt x="7340092" y="1223391"/>
                  </a:cubicBezTo>
                  <a:lnTo>
                    <a:pt x="7340092" y="7672324"/>
                  </a:lnTo>
                  <a:cubicBezTo>
                    <a:pt x="7340092" y="8347964"/>
                    <a:pt x="6792341" y="8895715"/>
                    <a:pt x="6116701" y="8895715"/>
                  </a:cubicBezTo>
                  <a:lnTo>
                    <a:pt x="1223391" y="8895715"/>
                  </a:lnTo>
                  <a:cubicBezTo>
                    <a:pt x="547751" y="8895715"/>
                    <a:pt x="0" y="8347964"/>
                    <a:pt x="0" y="7672324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09873" y="4215679"/>
            <a:ext cx="5243608" cy="2948092"/>
            <a:chOff x="0" y="0"/>
            <a:chExt cx="6991477" cy="3930790"/>
          </a:xfrm>
        </p:grpSpPr>
        <p:sp>
          <p:nvSpPr>
            <p:cNvPr name="Freeform 12" id="12" descr="uvicorn.png"/>
            <p:cNvSpPr/>
            <p:nvPr/>
          </p:nvSpPr>
          <p:spPr>
            <a:xfrm flipH="false" flipV="false" rot="0">
              <a:off x="0" y="0"/>
              <a:ext cx="6991477" cy="3930777"/>
            </a:xfrm>
            <a:custGeom>
              <a:avLst/>
              <a:gdLst/>
              <a:ahLst/>
              <a:cxnLst/>
              <a:rect r="r" b="b" t="t" l="l"/>
              <a:pathLst>
                <a:path h="3930777" w="6991477">
                  <a:moveTo>
                    <a:pt x="0" y="0"/>
                  </a:moveTo>
                  <a:lnTo>
                    <a:pt x="6991477" y="0"/>
                  </a:lnTo>
                  <a:lnTo>
                    <a:pt x="6991477" y="3930777"/>
                  </a:lnTo>
                  <a:lnTo>
                    <a:pt x="0" y="393077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942499" y="8597465"/>
            <a:ext cx="4978365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Uvicorn / FastAPI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403229" y="2353847"/>
            <a:ext cx="5504993" cy="6671758"/>
            <a:chOff x="0" y="0"/>
            <a:chExt cx="7339990" cy="88956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340092" cy="8895715"/>
            </a:xfrm>
            <a:custGeom>
              <a:avLst/>
              <a:gdLst/>
              <a:ahLst/>
              <a:cxnLst/>
              <a:rect r="r" b="b" t="t" l="l"/>
              <a:pathLst>
                <a:path h="8895715" w="7340092">
                  <a:moveTo>
                    <a:pt x="0" y="1223391"/>
                  </a:moveTo>
                  <a:cubicBezTo>
                    <a:pt x="0" y="547751"/>
                    <a:pt x="547751" y="0"/>
                    <a:pt x="1223391" y="0"/>
                  </a:cubicBezTo>
                  <a:lnTo>
                    <a:pt x="6116701" y="0"/>
                  </a:lnTo>
                  <a:cubicBezTo>
                    <a:pt x="6792341" y="0"/>
                    <a:pt x="7340092" y="547751"/>
                    <a:pt x="7340092" y="1223391"/>
                  </a:cubicBezTo>
                  <a:lnTo>
                    <a:pt x="7340092" y="7672324"/>
                  </a:lnTo>
                  <a:cubicBezTo>
                    <a:pt x="7340092" y="8347964"/>
                    <a:pt x="6792341" y="8895715"/>
                    <a:pt x="6116701" y="8895715"/>
                  </a:cubicBezTo>
                  <a:lnTo>
                    <a:pt x="1223391" y="8895715"/>
                  </a:lnTo>
                  <a:cubicBezTo>
                    <a:pt x="547751" y="8895715"/>
                    <a:pt x="0" y="8347964"/>
                    <a:pt x="0" y="7672324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533921" y="4479512"/>
            <a:ext cx="5243608" cy="2420426"/>
            <a:chOff x="0" y="0"/>
            <a:chExt cx="6991477" cy="3227235"/>
          </a:xfrm>
        </p:grpSpPr>
        <p:sp>
          <p:nvSpPr>
            <p:cNvPr name="Freeform 17" id="17" descr="Swagger Endpoint List.png"/>
            <p:cNvSpPr/>
            <p:nvPr/>
          </p:nvSpPr>
          <p:spPr>
            <a:xfrm flipH="false" flipV="false" rot="0">
              <a:off x="0" y="0"/>
              <a:ext cx="6991477" cy="3227197"/>
            </a:xfrm>
            <a:custGeom>
              <a:avLst/>
              <a:gdLst/>
              <a:ahLst/>
              <a:cxnLst/>
              <a:rect r="r" b="b" t="t" l="l"/>
              <a:pathLst>
                <a:path h="3227197" w="6991477">
                  <a:moveTo>
                    <a:pt x="0" y="0"/>
                  </a:moveTo>
                  <a:lnTo>
                    <a:pt x="6991477" y="0"/>
                  </a:lnTo>
                  <a:lnTo>
                    <a:pt x="6991477" y="3227197"/>
                  </a:lnTo>
                  <a:lnTo>
                    <a:pt x="0" y="322719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-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6666538" y="8597465"/>
            <a:ext cx="4978365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Swagger endpoints</a:t>
            </a:r>
          </a:p>
        </p:txBody>
      </p:sp>
      <p:grpSp>
        <p:nvGrpSpPr>
          <p:cNvPr name="Group 19" id="19"/>
          <p:cNvGrpSpPr/>
          <p:nvPr/>
        </p:nvGrpSpPr>
        <p:grpSpPr>
          <a:xfrm rot="0">
            <a:off x="12127278" y="2353847"/>
            <a:ext cx="5504993" cy="6671758"/>
            <a:chOff x="0" y="0"/>
            <a:chExt cx="7339990" cy="8895677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7340092" cy="8895715"/>
            </a:xfrm>
            <a:custGeom>
              <a:avLst/>
              <a:gdLst/>
              <a:ahLst/>
              <a:cxnLst/>
              <a:rect r="r" b="b" t="t" l="l"/>
              <a:pathLst>
                <a:path h="8895715" w="7340092">
                  <a:moveTo>
                    <a:pt x="0" y="1223391"/>
                  </a:moveTo>
                  <a:cubicBezTo>
                    <a:pt x="0" y="547751"/>
                    <a:pt x="547751" y="0"/>
                    <a:pt x="1223391" y="0"/>
                  </a:cubicBezTo>
                  <a:lnTo>
                    <a:pt x="6116701" y="0"/>
                  </a:lnTo>
                  <a:cubicBezTo>
                    <a:pt x="6792341" y="0"/>
                    <a:pt x="7340092" y="547751"/>
                    <a:pt x="7340092" y="1223391"/>
                  </a:cubicBezTo>
                  <a:lnTo>
                    <a:pt x="7340092" y="7672324"/>
                  </a:lnTo>
                  <a:cubicBezTo>
                    <a:pt x="7340092" y="8347964"/>
                    <a:pt x="6792341" y="8895715"/>
                    <a:pt x="6116701" y="8895715"/>
                  </a:cubicBezTo>
                  <a:lnTo>
                    <a:pt x="1223391" y="8895715"/>
                  </a:lnTo>
                  <a:cubicBezTo>
                    <a:pt x="547751" y="8895715"/>
                    <a:pt x="0" y="8347964"/>
                    <a:pt x="0" y="7672324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1" id="21"/>
          <p:cNvGrpSpPr/>
          <p:nvPr/>
        </p:nvGrpSpPr>
        <p:grpSpPr>
          <a:xfrm rot="0">
            <a:off x="12257961" y="4440241"/>
            <a:ext cx="5243608" cy="2498969"/>
            <a:chOff x="0" y="0"/>
            <a:chExt cx="6991477" cy="3331959"/>
          </a:xfrm>
        </p:grpSpPr>
        <p:sp>
          <p:nvSpPr>
            <p:cNvPr name="Freeform 22" id="22" descr="Get_health.png"/>
            <p:cNvSpPr/>
            <p:nvPr/>
          </p:nvSpPr>
          <p:spPr>
            <a:xfrm flipH="false" flipV="false" rot="0">
              <a:off x="0" y="0"/>
              <a:ext cx="6991477" cy="3331972"/>
            </a:xfrm>
            <a:custGeom>
              <a:avLst/>
              <a:gdLst/>
              <a:ahLst/>
              <a:cxnLst/>
              <a:rect r="r" b="b" t="t" l="l"/>
              <a:pathLst>
                <a:path h="3331972" w="6991477">
                  <a:moveTo>
                    <a:pt x="0" y="0"/>
                  </a:moveTo>
                  <a:lnTo>
                    <a:pt x="6991477" y="0"/>
                  </a:lnTo>
                  <a:lnTo>
                    <a:pt x="6991477" y="3331972"/>
                  </a:lnTo>
                  <a:lnTo>
                    <a:pt x="0" y="333197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TextBox 23" id="23"/>
          <p:cNvSpPr txBox="true"/>
          <p:nvPr/>
        </p:nvSpPr>
        <p:spPr>
          <a:xfrm rot="0">
            <a:off x="12390587" y="8597465"/>
            <a:ext cx="4978365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Health response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11 / CONNECTIVITY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ngrok + BTP destinations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Move from local services to BTP connectivity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7817" y="2257758"/>
            <a:ext cx="8318964" cy="6809022"/>
            <a:chOff x="0" y="0"/>
            <a:chExt cx="11091951" cy="907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92053" cy="9078723"/>
            </a:xfrm>
            <a:custGeom>
              <a:avLst/>
              <a:gdLst/>
              <a:ahLst/>
              <a:cxnLst/>
              <a:rect r="r" b="b" t="t" l="l"/>
              <a:pathLst>
                <a:path h="9078723" w="11092053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9578848" y="0"/>
                  </a:lnTo>
                  <a:cubicBezTo>
                    <a:pt x="10414508" y="0"/>
                    <a:pt x="11092053" y="677418"/>
                    <a:pt x="11092053" y="1513205"/>
                  </a:cubicBezTo>
                  <a:lnTo>
                    <a:pt x="11092053" y="7565517"/>
                  </a:lnTo>
                  <a:cubicBezTo>
                    <a:pt x="11092053" y="8401177"/>
                    <a:pt x="10414635" y="9078723"/>
                    <a:pt x="9578848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8510" y="3574980"/>
            <a:ext cx="8057588" cy="4174579"/>
            <a:chOff x="0" y="0"/>
            <a:chExt cx="10743451" cy="5566105"/>
          </a:xfrm>
        </p:grpSpPr>
        <p:sp>
          <p:nvSpPr>
            <p:cNvPr name="Freeform 12" id="12" descr="ngrok.png"/>
            <p:cNvSpPr/>
            <p:nvPr/>
          </p:nvSpPr>
          <p:spPr>
            <a:xfrm flipH="false" flipV="false" rot="0">
              <a:off x="0" y="0"/>
              <a:ext cx="10743438" cy="5566156"/>
            </a:xfrm>
            <a:custGeom>
              <a:avLst/>
              <a:gdLst/>
              <a:ahLst/>
              <a:cxnLst/>
              <a:rect r="r" b="b" t="t" l="l"/>
              <a:pathLst>
                <a:path h="5566156" w="10743438">
                  <a:moveTo>
                    <a:pt x="0" y="0"/>
                  </a:moveTo>
                  <a:lnTo>
                    <a:pt x="10743438" y="0"/>
                  </a:lnTo>
                  <a:lnTo>
                    <a:pt x="10743438" y="5566156"/>
                  </a:lnTo>
                  <a:lnTo>
                    <a:pt x="0" y="55661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1126" y="8638651"/>
            <a:ext cx="7792345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ngrok HTTPS forwarding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0935" y="2257758"/>
            <a:ext cx="8318964" cy="6809022"/>
            <a:chOff x="0" y="0"/>
            <a:chExt cx="11091951" cy="90786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92053" cy="9078723"/>
            </a:xfrm>
            <a:custGeom>
              <a:avLst/>
              <a:gdLst/>
              <a:ahLst/>
              <a:cxnLst/>
              <a:rect r="r" b="b" t="t" l="l"/>
              <a:pathLst>
                <a:path h="9078723" w="11092053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9578848" y="0"/>
                  </a:lnTo>
                  <a:cubicBezTo>
                    <a:pt x="10414508" y="0"/>
                    <a:pt x="11092053" y="677418"/>
                    <a:pt x="11092053" y="1513205"/>
                  </a:cubicBezTo>
                  <a:lnTo>
                    <a:pt x="11092053" y="7565517"/>
                  </a:lnTo>
                  <a:cubicBezTo>
                    <a:pt x="11092053" y="8401177"/>
                    <a:pt x="10414635" y="9078723"/>
                    <a:pt x="9578848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61627" y="3776643"/>
            <a:ext cx="8057588" cy="3771262"/>
            <a:chOff x="0" y="0"/>
            <a:chExt cx="10743451" cy="5028349"/>
          </a:xfrm>
        </p:grpSpPr>
        <p:sp>
          <p:nvSpPr>
            <p:cNvPr name="Freeform 17" id="17" descr="BTP FastAPI Destination and BTP MCP Destination.png"/>
            <p:cNvSpPr/>
            <p:nvPr/>
          </p:nvSpPr>
          <p:spPr>
            <a:xfrm flipH="false" flipV="false" rot="0">
              <a:off x="0" y="0"/>
              <a:ext cx="10743438" cy="5028311"/>
            </a:xfrm>
            <a:custGeom>
              <a:avLst/>
              <a:gdLst/>
              <a:ahLst/>
              <a:cxnLst/>
              <a:rect r="r" b="b" t="t" l="l"/>
              <a:pathLst>
                <a:path h="5028311" w="10743438">
                  <a:moveTo>
                    <a:pt x="0" y="0"/>
                  </a:moveTo>
                  <a:lnTo>
                    <a:pt x="10743438" y="0"/>
                  </a:lnTo>
                  <a:lnTo>
                    <a:pt x="10743438" y="5028311"/>
                  </a:lnTo>
                  <a:lnTo>
                    <a:pt x="0" y="50283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94244" y="8638651"/>
            <a:ext cx="7792345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BTP destinations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12 / FINAL VALIDATION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Check Connection — both succeeded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Final BTP connectivity evidence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747817" y="2216582"/>
            <a:ext cx="8318964" cy="6809022"/>
            <a:chOff x="0" y="0"/>
            <a:chExt cx="11091951" cy="907869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1092053" cy="9078723"/>
            </a:xfrm>
            <a:custGeom>
              <a:avLst/>
              <a:gdLst/>
              <a:ahLst/>
              <a:cxnLst/>
              <a:rect r="r" b="b" t="t" l="l"/>
              <a:pathLst>
                <a:path h="9078723" w="11092053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9578848" y="0"/>
                  </a:lnTo>
                  <a:cubicBezTo>
                    <a:pt x="10414508" y="0"/>
                    <a:pt x="11092053" y="677418"/>
                    <a:pt x="11092053" y="1513205"/>
                  </a:cubicBezTo>
                  <a:lnTo>
                    <a:pt x="11092053" y="7565517"/>
                  </a:lnTo>
                  <a:cubicBezTo>
                    <a:pt x="11092053" y="8401177"/>
                    <a:pt x="10414635" y="9078723"/>
                    <a:pt x="9578848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878510" y="3497570"/>
            <a:ext cx="8057588" cy="4247045"/>
            <a:chOff x="0" y="0"/>
            <a:chExt cx="10743451" cy="5662727"/>
          </a:xfrm>
        </p:grpSpPr>
        <p:sp>
          <p:nvSpPr>
            <p:cNvPr name="Freeform 12" id="12" descr="2664863e-2117-45f5-857d-8e156c4cbe4c.png"/>
            <p:cNvSpPr/>
            <p:nvPr/>
          </p:nvSpPr>
          <p:spPr>
            <a:xfrm flipH="false" flipV="false" rot="0">
              <a:off x="0" y="0"/>
              <a:ext cx="10743438" cy="5662676"/>
            </a:xfrm>
            <a:custGeom>
              <a:avLst/>
              <a:gdLst/>
              <a:ahLst/>
              <a:cxnLst/>
              <a:rect r="r" b="b" t="t" l="l"/>
              <a:pathLst>
                <a:path h="5662676" w="10743438">
                  <a:moveTo>
                    <a:pt x="0" y="0"/>
                  </a:moveTo>
                  <a:lnTo>
                    <a:pt x="10743438" y="0"/>
                  </a:lnTo>
                  <a:lnTo>
                    <a:pt x="10743438" y="5662676"/>
                  </a:lnTo>
                  <a:lnTo>
                    <a:pt x="0" y="566267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011126" y="8578415"/>
            <a:ext cx="779234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JouleOps_FastAPI — HTTP request succeeded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9230935" y="2216582"/>
            <a:ext cx="8318964" cy="6809022"/>
            <a:chOff x="0" y="0"/>
            <a:chExt cx="11091951" cy="907869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092053" cy="9078723"/>
            </a:xfrm>
            <a:custGeom>
              <a:avLst/>
              <a:gdLst/>
              <a:ahLst/>
              <a:cxnLst/>
              <a:rect r="r" b="b" t="t" l="l"/>
              <a:pathLst>
                <a:path h="9078723" w="11092053">
                  <a:moveTo>
                    <a:pt x="0" y="1513205"/>
                  </a:moveTo>
                  <a:cubicBezTo>
                    <a:pt x="0" y="677418"/>
                    <a:pt x="677418" y="0"/>
                    <a:pt x="1513205" y="0"/>
                  </a:cubicBezTo>
                  <a:lnTo>
                    <a:pt x="9578848" y="0"/>
                  </a:lnTo>
                  <a:cubicBezTo>
                    <a:pt x="10414508" y="0"/>
                    <a:pt x="11092053" y="677418"/>
                    <a:pt x="11092053" y="1513205"/>
                  </a:cubicBezTo>
                  <a:lnTo>
                    <a:pt x="11092053" y="7565517"/>
                  </a:lnTo>
                  <a:cubicBezTo>
                    <a:pt x="11092053" y="8401177"/>
                    <a:pt x="10414635" y="9078723"/>
                    <a:pt x="9578848" y="9078723"/>
                  </a:cubicBezTo>
                  <a:lnTo>
                    <a:pt x="1513205" y="9078723"/>
                  </a:lnTo>
                  <a:cubicBezTo>
                    <a:pt x="677418" y="9078722"/>
                    <a:pt x="0" y="8401304"/>
                    <a:pt x="0" y="7565517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9361627" y="3503466"/>
            <a:ext cx="8057588" cy="4235244"/>
            <a:chOff x="0" y="0"/>
            <a:chExt cx="10743451" cy="5646992"/>
          </a:xfrm>
        </p:grpSpPr>
        <p:sp>
          <p:nvSpPr>
            <p:cNvPr name="Freeform 17" id="17" descr="9ad78dd5-b86a-4b96-b4d9-5e631e036319.png"/>
            <p:cNvSpPr/>
            <p:nvPr/>
          </p:nvSpPr>
          <p:spPr>
            <a:xfrm flipH="false" flipV="false" rot="0">
              <a:off x="0" y="0"/>
              <a:ext cx="10743438" cy="5647055"/>
            </a:xfrm>
            <a:custGeom>
              <a:avLst/>
              <a:gdLst/>
              <a:ahLst/>
              <a:cxnLst/>
              <a:rect r="r" b="b" t="t" l="l"/>
              <a:pathLst>
                <a:path h="5647055" w="10743438">
                  <a:moveTo>
                    <a:pt x="0" y="0"/>
                  </a:moveTo>
                  <a:lnTo>
                    <a:pt x="10743438" y="0"/>
                  </a:lnTo>
                  <a:lnTo>
                    <a:pt x="10743438" y="5647055"/>
                  </a:lnTo>
                  <a:lnTo>
                    <a:pt x="0" y="564705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9494244" y="8578415"/>
            <a:ext cx="7792345" cy="2021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41"/>
              </a:lnSpc>
            </a:pPr>
            <a:r>
              <a:rPr lang="en-US" sz="1200" b="true">
                <a:solidFill>
                  <a:srgbClr val="F6FA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✓ JouleOps-MCP — HTTP request succeeded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09459" y="9173994"/>
            <a:ext cx="9906267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61"/>
              </a:lnSpc>
            </a:pPr>
            <a:r>
              <a:rPr lang="en-US" sz="1801" b="true">
                <a:solidFill>
                  <a:srgbClr val="41CD89"/>
                </a:solidFill>
                <a:latin typeface="Aptos Bold"/>
                <a:ea typeface="Aptos Bold"/>
                <a:cs typeface="Aptos Bold"/>
                <a:sym typeface="Aptos Bold"/>
              </a:rPr>
              <a:t>Both BTP destinations passed their connection checks.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13 / END-TO-END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One request → one governed path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The complete project flow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404651" y="3767699"/>
            <a:ext cx="2073307" cy="1455601"/>
            <a:chOff x="0" y="0"/>
            <a:chExt cx="2764409" cy="194080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85FF"/>
              </a:solidFill>
              <a:prstDash val="solid"/>
              <a:miter/>
            </a:ln>
          </p:spPr>
        </p:sp>
      </p:grpSp>
      <p:sp>
        <p:nvSpPr>
          <p:cNvPr name="TextBox 11" id="11"/>
          <p:cNvSpPr txBox="true"/>
          <p:nvPr/>
        </p:nvSpPr>
        <p:spPr>
          <a:xfrm rot="0">
            <a:off x="503244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USER</a:t>
            </a:r>
          </a:p>
        </p:txBody>
      </p:sp>
      <p:sp>
        <p:nvSpPr>
          <p:cNvPr name="AutoShape 12" id="12"/>
          <p:cNvSpPr/>
          <p:nvPr/>
        </p:nvSpPr>
        <p:spPr>
          <a:xfrm rot="290640">
            <a:off x="2450935" y="4492838"/>
            <a:ext cx="45154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3" id="13"/>
          <p:cNvGrpSpPr/>
          <p:nvPr/>
        </p:nvGrpSpPr>
        <p:grpSpPr>
          <a:xfrm rot="0">
            <a:off x="2971552" y="3767699"/>
            <a:ext cx="2073307" cy="1455601"/>
            <a:chOff x="0" y="0"/>
            <a:chExt cx="2764409" cy="194080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8468FF"/>
              </a:solidFill>
              <a:prstDash val="solid"/>
              <a:miter/>
            </a:ln>
          </p:spPr>
        </p:sp>
      </p:grpSp>
      <p:sp>
        <p:nvSpPr>
          <p:cNvPr name="TextBox 15" id="15"/>
          <p:cNvSpPr txBox="true"/>
          <p:nvPr/>
        </p:nvSpPr>
        <p:spPr>
          <a:xfrm rot="0">
            <a:off x="3070136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</a:t>
            </a:r>
          </a:p>
        </p:txBody>
      </p:sp>
      <p:sp>
        <p:nvSpPr>
          <p:cNvPr name="AutoShape 16" id="16"/>
          <p:cNvSpPr/>
          <p:nvPr/>
        </p:nvSpPr>
        <p:spPr>
          <a:xfrm rot="290640">
            <a:off x="5017837" y="4492838"/>
            <a:ext cx="45154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7" id="17"/>
          <p:cNvGrpSpPr/>
          <p:nvPr/>
        </p:nvGrpSpPr>
        <p:grpSpPr>
          <a:xfrm rot="0">
            <a:off x="5538445" y="3767699"/>
            <a:ext cx="2073307" cy="1455601"/>
            <a:chOff x="0" y="0"/>
            <a:chExt cx="2764409" cy="194080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30D2D6"/>
              </a:solidFill>
              <a:prstDash val="solid"/>
              <a:miter/>
            </a:ln>
          </p:spPr>
        </p:sp>
      </p:grpSp>
      <p:sp>
        <p:nvSpPr>
          <p:cNvPr name="TextBox 19" id="19"/>
          <p:cNvSpPr txBox="true"/>
          <p:nvPr/>
        </p:nvSpPr>
        <p:spPr>
          <a:xfrm rot="0">
            <a:off x="5637038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</a:t>
            </a:r>
          </a:p>
        </p:txBody>
      </p:sp>
      <p:sp>
        <p:nvSpPr>
          <p:cNvPr name="AutoShape 20" id="20"/>
          <p:cNvSpPr/>
          <p:nvPr/>
        </p:nvSpPr>
        <p:spPr>
          <a:xfrm rot="290640">
            <a:off x="7584738" y="4492838"/>
            <a:ext cx="45154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1" id="21"/>
          <p:cNvGrpSpPr/>
          <p:nvPr/>
        </p:nvGrpSpPr>
        <p:grpSpPr>
          <a:xfrm rot="0">
            <a:off x="8105346" y="3767699"/>
            <a:ext cx="2073307" cy="1455601"/>
            <a:chOff x="0" y="0"/>
            <a:chExt cx="2764409" cy="194080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CB1A6"/>
              </a:solidFill>
              <a:prstDash val="solid"/>
              <a:miter/>
            </a:ln>
          </p:spPr>
        </p:sp>
      </p:grpSp>
      <p:sp>
        <p:nvSpPr>
          <p:cNvPr name="TextBox 23" id="23"/>
          <p:cNvSpPr txBox="true"/>
          <p:nvPr/>
        </p:nvSpPr>
        <p:spPr>
          <a:xfrm rot="0">
            <a:off x="8203930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BTP</a:t>
            </a:r>
          </a:p>
        </p:txBody>
      </p:sp>
      <p:sp>
        <p:nvSpPr>
          <p:cNvPr name="AutoShape 24" id="24"/>
          <p:cNvSpPr/>
          <p:nvPr/>
        </p:nvSpPr>
        <p:spPr>
          <a:xfrm rot="290640">
            <a:off x="10151631" y="4492838"/>
            <a:ext cx="45154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10672239" y="3767699"/>
            <a:ext cx="2073307" cy="1455601"/>
            <a:chOff x="0" y="0"/>
            <a:chExt cx="2764409" cy="194080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85FF"/>
              </a:solidFill>
              <a:prstDash val="solid"/>
              <a:miter/>
            </a:ln>
          </p:spPr>
        </p:sp>
      </p:grpSp>
      <p:sp>
        <p:nvSpPr>
          <p:cNvPr name="TextBox 27" id="27"/>
          <p:cNvSpPr txBox="true"/>
          <p:nvPr/>
        </p:nvSpPr>
        <p:spPr>
          <a:xfrm rot="0">
            <a:off x="10770832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AutoShape 28" id="28"/>
          <p:cNvSpPr/>
          <p:nvPr/>
        </p:nvSpPr>
        <p:spPr>
          <a:xfrm rot="290640">
            <a:off x="12718532" y="4492838"/>
            <a:ext cx="45154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9" id="29"/>
          <p:cNvGrpSpPr/>
          <p:nvPr/>
        </p:nvGrpSpPr>
        <p:grpSpPr>
          <a:xfrm rot="0">
            <a:off x="13239140" y="3767699"/>
            <a:ext cx="2073307" cy="1455601"/>
            <a:chOff x="0" y="0"/>
            <a:chExt cx="2764409" cy="194080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41CD89"/>
              </a:solidFill>
              <a:prstDash val="solid"/>
              <a:miter/>
            </a:ln>
          </p:spPr>
        </p:sp>
      </p:grpSp>
      <p:sp>
        <p:nvSpPr>
          <p:cNvPr name="TextBox 31" id="31"/>
          <p:cNvSpPr txBox="true"/>
          <p:nvPr/>
        </p:nvSpPr>
        <p:spPr>
          <a:xfrm rot="0">
            <a:off x="13337724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</a:t>
            </a:r>
          </a:p>
        </p:txBody>
      </p:sp>
      <p:sp>
        <p:nvSpPr>
          <p:cNvPr name="AutoShape 32" id="32"/>
          <p:cNvSpPr/>
          <p:nvPr/>
        </p:nvSpPr>
        <p:spPr>
          <a:xfrm rot="290640">
            <a:off x="15285425" y="4492838"/>
            <a:ext cx="451542" cy="0"/>
          </a:xfrm>
          <a:prstGeom prst="line">
            <a:avLst/>
          </a:prstGeom>
          <a:ln cap="rnd" w="19050">
            <a:solidFill>
              <a:srgbClr val="30D2D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3" id="33"/>
          <p:cNvGrpSpPr/>
          <p:nvPr/>
        </p:nvGrpSpPr>
        <p:grpSpPr>
          <a:xfrm rot="0">
            <a:off x="15806033" y="3767699"/>
            <a:ext cx="2073307" cy="1455601"/>
            <a:chOff x="0" y="0"/>
            <a:chExt cx="2764409" cy="1940801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2764409" cy="1940814"/>
            </a:xfrm>
            <a:custGeom>
              <a:avLst/>
              <a:gdLst/>
              <a:ahLst/>
              <a:cxnLst/>
              <a:rect r="r" b="b" t="t" l="l"/>
              <a:pathLst>
                <a:path h="1940814" w="2764409">
                  <a:moveTo>
                    <a:pt x="0" y="323469"/>
                  </a:moveTo>
                  <a:cubicBezTo>
                    <a:pt x="0" y="144780"/>
                    <a:pt x="144780" y="0"/>
                    <a:pt x="323469" y="0"/>
                  </a:cubicBezTo>
                  <a:lnTo>
                    <a:pt x="2440940" y="0"/>
                  </a:lnTo>
                  <a:cubicBezTo>
                    <a:pt x="2619629" y="0"/>
                    <a:pt x="2764409" y="144780"/>
                    <a:pt x="2764409" y="323469"/>
                  </a:cubicBezTo>
                  <a:lnTo>
                    <a:pt x="2764409" y="1617345"/>
                  </a:lnTo>
                  <a:cubicBezTo>
                    <a:pt x="2764409" y="1796034"/>
                    <a:pt x="2619629" y="1940814"/>
                    <a:pt x="2440940" y="1940814"/>
                  </a:cubicBezTo>
                  <a:lnTo>
                    <a:pt x="323469" y="1940814"/>
                  </a:lnTo>
                  <a:cubicBezTo>
                    <a:pt x="144780" y="1940814"/>
                    <a:pt x="0" y="1796034"/>
                    <a:pt x="0" y="1617345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FFA84C"/>
              </a:solidFill>
              <a:prstDash val="solid"/>
              <a:miter/>
            </a:ln>
          </p:spPr>
        </p:sp>
      </p:grpSp>
      <p:sp>
        <p:nvSpPr>
          <p:cNvPr name="TextBox 35" id="35"/>
          <p:cNvSpPr txBox="true"/>
          <p:nvPr/>
        </p:nvSpPr>
        <p:spPr>
          <a:xfrm rot="0">
            <a:off x="15904626" y="4273553"/>
            <a:ext cx="1876130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01"/>
              </a:lnSpc>
            </a:pPr>
            <a:r>
              <a:rPr lang="en-US" sz="15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JSON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836783" y="6977720"/>
            <a:ext cx="12582973" cy="526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02"/>
              </a:lnSpc>
            </a:pPr>
            <a:r>
              <a:rPr lang="en-US" sz="22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Question → selected tool → governed backend operation → structured response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14 / QUALITY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Validation &amp; results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What was verified before presentation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53719" y="2326396"/>
            <a:ext cx="7907169" cy="1730140"/>
            <a:chOff x="0" y="0"/>
            <a:chExt cx="10542892" cy="2306853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960872" y="2333539"/>
            <a:ext cx="75495" cy="1715843"/>
            <a:chOff x="0" y="0"/>
            <a:chExt cx="100660" cy="22877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1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41CD89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354293" y="2616822"/>
            <a:ext cx="716091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HANA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54293" y="3230318"/>
            <a:ext cx="716091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Tables and seed records verified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9395660" y="2326396"/>
            <a:ext cx="7907169" cy="1730140"/>
            <a:chOff x="0" y="0"/>
            <a:chExt cx="10542892" cy="2306853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9402804" y="2333539"/>
            <a:ext cx="75495" cy="1715843"/>
            <a:chOff x="0" y="0"/>
            <a:chExt cx="100660" cy="22877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71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4185F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9796234" y="2616822"/>
            <a:ext cx="716091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FastAPI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796234" y="3230318"/>
            <a:ext cx="716091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Swagger endpoints return structured JSON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53719" y="4454033"/>
            <a:ext cx="7907169" cy="1730140"/>
            <a:chOff x="0" y="0"/>
            <a:chExt cx="10542892" cy="230685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60872" y="4461186"/>
            <a:ext cx="75495" cy="1715843"/>
            <a:chOff x="0" y="0"/>
            <a:chExt cx="100660" cy="22877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1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354293" y="4744460"/>
            <a:ext cx="716091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MCP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54293" y="5357965"/>
            <a:ext cx="716091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Tools exposed by the running server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9395660" y="4454033"/>
            <a:ext cx="7907169" cy="1730140"/>
            <a:chOff x="0" y="0"/>
            <a:chExt cx="10542892" cy="2306853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402804" y="4461186"/>
            <a:ext cx="75495" cy="1715843"/>
            <a:chOff x="0" y="0"/>
            <a:chExt cx="100660" cy="22877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71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8468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9796234" y="4744460"/>
            <a:ext cx="716091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Connectivity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796234" y="5357965"/>
            <a:ext cx="716091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ngrok + BTP destinations validated</a:t>
            </a:r>
          </a:p>
        </p:txBody>
      </p:sp>
      <p:grpSp>
        <p:nvGrpSpPr>
          <p:cNvPr name="Group 33" id="33"/>
          <p:cNvGrpSpPr/>
          <p:nvPr/>
        </p:nvGrpSpPr>
        <p:grpSpPr>
          <a:xfrm rot="0">
            <a:off x="953719" y="6581680"/>
            <a:ext cx="7907169" cy="1730140"/>
            <a:chOff x="0" y="0"/>
            <a:chExt cx="10542892" cy="2306853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35" id="35"/>
          <p:cNvGrpSpPr/>
          <p:nvPr/>
        </p:nvGrpSpPr>
        <p:grpSpPr>
          <a:xfrm rot="0">
            <a:off x="960872" y="6588824"/>
            <a:ext cx="75495" cy="1715843"/>
            <a:chOff x="0" y="0"/>
            <a:chExt cx="100660" cy="2287791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0071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2CB1A6"/>
            </a:solidFill>
          </p:spPr>
        </p:sp>
      </p:grpSp>
      <p:sp>
        <p:nvSpPr>
          <p:cNvPr name="TextBox 37" id="37"/>
          <p:cNvSpPr txBox="true"/>
          <p:nvPr/>
        </p:nvSpPr>
        <p:spPr>
          <a:xfrm rot="0">
            <a:off x="1354293" y="6872107"/>
            <a:ext cx="716091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Governance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1354293" y="7485602"/>
            <a:ext cx="716091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Ticket role check + audit path implemented</a:t>
            </a:r>
          </a:p>
        </p:txBody>
      </p:sp>
      <p:grpSp>
        <p:nvGrpSpPr>
          <p:cNvPr name="Group 39" id="39"/>
          <p:cNvGrpSpPr/>
          <p:nvPr/>
        </p:nvGrpSpPr>
        <p:grpSpPr>
          <a:xfrm rot="0">
            <a:off x="9395660" y="6581680"/>
            <a:ext cx="7907169" cy="1730140"/>
            <a:chOff x="0" y="0"/>
            <a:chExt cx="10542892" cy="2306853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0542777" cy="2306828"/>
            </a:xfrm>
            <a:custGeom>
              <a:avLst/>
              <a:gdLst/>
              <a:ahLst/>
              <a:cxnLst/>
              <a:rect r="r" b="b" t="t" l="l"/>
              <a:pathLst>
                <a:path h="2306828" w="10542777">
                  <a:moveTo>
                    <a:pt x="0" y="384429"/>
                  </a:moveTo>
                  <a:cubicBezTo>
                    <a:pt x="0" y="172085"/>
                    <a:pt x="172085" y="0"/>
                    <a:pt x="384429" y="0"/>
                  </a:cubicBezTo>
                  <a:lnTo>
                    <a:pt x="10158349" y="0"/>
                  </a:lnTo>
                  <a:cubicBezTo>
                    <a:pt x="10370693" y="0"/>
                    <a:pt x="10542777" y="172085"/>
                    <a:pt x="10542777" y="384429"/>
                  </a:cubicBezTo>
                  <a:lnTo>
                    <a:pt x="10542777" y="1922399"/>
                  </a:lnTo>
                  <a:cubicBezTo>
                    <a:pt x="10542777" y="2134743"/>
                    <a:pt x="10370693" y="2306828"/>
                    <a:pt x="10158349" y="2306828"/>
                  </a:cubicBezTo>
                  <a:lnTo>
                    <a:pt x="384429" y="2306828"/>
                  </a:lnTo>
                  <a:cubicBezTo>
                    <a:pt x="172085" y="2306828"/>
                    <a:pt x="0" y="2134743"/>
                    <a:pt x="0" y="1922399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41" id="41"/>
          <p:cNvGrpSpPr/>
          <p:nvPr/>
        </p:nvGrpSpPr>
        <p:grpSpPr>
          <a:xfrm rot="0">
            <a:off x="9402804" y="6588824"/>
            <a:ext cx="75495" cy="1715843"/>
            <a:chOff x="0" y="0"/>
            <a:chExt cx="100660" cy="22877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00711" cy="2287778"/>
            </a:xfrm>
            <a:custGeom>
              <a:avLst/>
              <a:gdLst/>
              <a:ahLst/>
              <a:cxnLst/>
              <a:rect r="r" b="b" t="t" l="l"/>
              <a:pathLst>
                <a:path h="2287778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2287778"/>
                  </a:lnTo>
                  <a:lnTo>
                    <a:pt x="0" y="2287778"/>
                  </a:lnTo>
                  <a:close/>
                </a:path>
              </a:pathLst>
            </a:custGeom>
            <a:solidFill>
              <a:srgbClr val="FFA84C"/>
            </a:solidFill>
          </p:spPr>
        </p:sp>
      </p:grpSp>
      <p:sp>
        <p:nvSpPr>
          <p:cNvPr name="TextBox 43" id="43"/>
          <p:cNvSpPr txBox="true"/>
          <p:nvPr/>
        </p:nvSpPr>
        <p:spPr>
          <a:xfrm rot="0">
            <a:off x="9796234" y="6872107"/>
            <a:ext cx="7160914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Evidence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9796234" y="7485602"/>
            <a:ext cx="7160914" cy="594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Actual screenshots captured from the running project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15 / OUTCOME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Key outcomes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What the capstone demonstrates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090984" y="2257758"/>
            <a:ext cx="16143199" cy="1386973"/>
            <a:chOff x="0" y="0"/>
            <a:chExt cx="21524265" cy="1849298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1524215" cy="1849247"/>
            </a:xfrm>
            <a:custGeom>
              <a:avLst/>
              <a:gdLst/>
              <a:ahLst/>
              <a:cxnLst/>
              <a:rect r="r" b="b" t="t" l="l"/>
              <a:pathLst>
                <a:path h="1849247" w="21524215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1215986" y="0"/>
                  </a:lnTo>
                  <a:cubicBezTo>
                    <a:pt x="21386166" y="0"/>
                    <a:pt x="21524215" y="138049"/>
                    <a:pt x="21524215" y="308229"/>
                  </a:cubicBezTo>
                  <a:lnTo>
                    <a:pt x="21524215" y="1541018"/>
                  </a:lnTo>
                  <a:cubicBezTo>
                    <a:pt x="21524215" y="1711198"/>
                    <a:pt x="21386166" y="1849247"/>
                    <a:pt x="21215986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1" id="11"/>
          <p:cNvGrpSpPr/>
          <p:nvPr/>
        </p:nvGrpSpPr>
        <p:grpSpPr>
          <a:xfrm rot="0">
            <a:off x="1098137" y="2264912"/>
            <a:ext cx="75495" cy="1372676"/>
            <a:chOff x="0" y="0"/>
            <a:chExt cx="100660" cy="183023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0071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4185FF"/>
            </a:solidFill>
          </p:spPr>
        </p:sp>
      </p:grpSp>
      <p:sp>
        <p:nvSpPr>
          <p:cNvPr name="TextBox 13" id="13"/>
          <p:cNvSpPr txBox="true"/>
          <p:nvPr/>
        </p:nvSpPr>
        <p:spPr>
          <a:xfrm rot="0">
            <a:off x="1491567" y="2548185"/>
            <a:ext cx="15396953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Centralized business logic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491567" y="3161690"/>
            <a:ext cx="1539695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REST and MCP paths reuse the FastAPI implementation.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1090984" y="3904964"/>
            <a:ext cx="16143199" cy="1386973"/>
            <a:chOff x="0" y="0"/>
            <a:chExt cx="21524265" cy="1849298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1524215" cy="1849247"/>
            </a:xfrm>
            <a:custGeom>
              <a:avLst/>
              <a:gdLst/>
              <a:ahLst/>
              <a:cxnLst/>
              <a:rect r="r" b="b" t="t" l="l"/>
              <a:pathLst>
                <a:path h="1849247" w="21524215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1215986" y="0"/>
                  </a:lnTo>
                  <a:cubicBezTo>
                    <a:pt x="21386166" y="0"/>
                    <a:pt x="21524215" y="138049"/>
                    <a:pt x="21524215" y="308229"/>
                  </a:cubicBezTo>
                  <a:lnTo>
                    <a:pt x="21524215" y="1541018"/>
                  </a:lnTo>
                  <a:cubicBezTo>
                    <a:pt x="21524215" y="1711198"/>
                    <a:pt x="21386166" y="1849247"/>
                    <a:pt x="21215986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17" id="17"/>
          <p:cNvGrpSpPr/>
          <p:nvPr/>
        </p:nvGrpSpPr>
        <p:grpSpPr>
          <a:xfrm rot="0">
            <a:off x="1098137" y="3912118"/>
            <a:ext cx="75495" cy="1372676"/>
            <a:chOff x="0" y="0"/>
            <a:chExt cx="100660" cy="1830235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10071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41CD89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1491567" y="4195391"/>
            <a:ext cx="15396953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Controlled writes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91567" y="4808896"/>
            <a:ext cx="1539695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Authorization and audit logging protect ticket creation.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090984" y="5552170"/>
            <a:ext cx="16143199" cy="1386973"/>
            <a:chOff x="0" y="0"/>
            <a:chExt cx="21524265" cy="1849298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21524215" cy="1849247"/>
            </a:xfrm>
            <a:custGeom>
              <a:avLst/>
              <a:gdLst/>
              <a:ahLst/>
              <a:cxnLst/>
              <a:rect r="r" b="b" t="t" l="l"/>
              <a:pathLst>
                <a:path h="1849247" w="21524215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1215986" y="0"/>
                  </a:lnTo>
                  <a:cubicBezTo>
                    <a:pt x="21386166" y="0"/>
                    <a:pt x="21524215" y="138049"/>
                    <a:pt x="21524215" y="308229"/>
                  </a:cubicBezTo>
                  <a:lnTo>
                    <a:pt x="21524215" y="1541018"/>
                  </a:lnTo>
                  <a:cubicBezTo>
                    <a:pt x="21524215" y="1711198"/>
                    <a:pt x="21386166" y="1849247"/>
                    <a:pt x="21215986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1098137" y="5559323"/>
            <a:ext cx="75495" cy="1372676"/>
            <a:chOff x="0" y="0"/>
            <a:chExt cx="100660" cy="1830235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0071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491567" y="5842597"/>
            <a:ext cx="15396953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Structured integration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91567" y="6456102"/>
            <a:ext cx="1539695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HANA is accessed through defined capabilities.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1090984" y="7199386"/>
            <a:ext cx="16143199" cy="1386973"/>
            <a:chOff x="0" y="0"/>
            <a:chExt cx="21524265" cy="1849298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21524215" cy="1849247"/>
            </a:xfrm>
            <a:custGeom>
              <a:avLst/>
              <a:gdLst/>
              <a:ahLst/>
              <a:cxnLst/>
              <a:rect r="r" b="b" t="t" l="l"/>
              <a:pathLst>
                <a:path h="1849247" w="21524215">
                  <a:moveTo>
                    <a:pt x="0" y="308229"/>
                  </a:moveTo>
                  <a:cubicBezTo>
                    <a:pt x="0" y="138049"/>
                    <a:pt x="138049" y="0"/>
                    <a:pt x="308229" y="0"/>
                  </a:cubicBezTo>
                  <a:lnTo>
                    <a:pt x="21215986" y="0"/>
                  </a:lnTo>
                  <a:cubicBezTo>
                    <a:pt x="21386166" y="0"/>
                    <a:pt x="21524215" y="138049"/>
                    <a:pt x="21524215" y="308229"/>
                  </a:cubicBezTo>
                  <a:lnTo>
                    <a:pt x="21524215" y="1541018"/>
                  </a:lnTo>
                  <a:cubicBezTo>
                    <a:pt x="21524215" y="1711198"/>
                    <a:pt x="21386166" y="1849247"/>
                    <a:pt x="21215986" y="1849247"/>
                  </a:cubicBezTo>
                  <a:lnTo>
                    <a:pt x="308229" y="1849247"/>
                  </a:lnTo>
                  <a:cubicBezTo>
                    <a:pt x="138049" y="1849247"/>
                    <a:pt x="0" y="1711325"/>
                    <a:pt x="0" y="1541018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1098137" y="7206529"/>
            <a:ext cx="75495" cy="1372676"/>
            <a:chOff x="0" y="0"/>
            <a:chExt cx="100660" cy="1830235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0711" cy="1830197"/>
            </a:xfrm>
            <a:custGeom>
              <a:avLst/>
              <a:gdLst/>
              <a:ahLst/>
              <a:cxnLst/>
              <a:rect r="r" b="b" t="t" l="l"/>
              <a:pathLst>
                <a:path h="1830197" w="100711">
                  <a:moveTo>
                    <a:pt x="0" y="0"/>
                  </a:moveTo>
                  <a:lnTo>
                    <a:pt x="100711" y="0"/>
                  </a:lnTo>
                  <a:lnTo>
                    <a:pt x="100711" y="1830197"/>
                  </a:lnTo>
                  <a:lnTo>
                    <a:pt x="0" y="1830197"/>
                  </a:lnTo>
                  <a:close/>
                </a:path>
              </a:pathLst>
            </a:custGeom>
            <a:solidFill>
              <a:srgbClr val="8468FF"/>
            </a:solidFill>
          </p:spPr>
        </p:sp>
      </p:grpSp>
      <p:sp>
        <p:nvSpPr>
          <p:cNvPr name="TextBox 31" id="31"/>
          <p:cNvSpPr txBox="true"/>
          <p:nvPr/>
        </p:nvSpPr>
        <p:spPr>
          <a:xfrm rot="0">
            <a:off x="1491567" y="7489803"/>
            <a:ext cx="15396953" cy="3298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1"/>
              </a:lnSpc>
            </a:pPr>
            <a:r>
              <a:rPr lang="en-US" sz="2101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SAP BTP readiness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91567" y="8103308"/>
            <a:ext cx="15396953" cy="2517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Destinations and HTTPS connectivity complete the integration path.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301840" cy="10295039"/>
            <a:chOff x="0" y="0"/>
            <a:chExt cx="24402453" cy="13726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402414" cy="13726668"/>
            </a:xfrm>
            <a:custGeom>
              <a:avLst/>
              <a:gdLst/>
              <a:ahLst/>
              <a:cxnLst/>
              <a:rect r="r" b="b" t="t" l="l"/>
              <a:pathLst>
                <a:path h="13726668" w="24402414">
                  <a:moveTo>
                    <a:pt x="0" y="0"/>
                  </a:moveTo>
                  <a:lnTo>
                    <a:pt x="24402414" y="0"/>
                  </a:lnTo>
                  <a:lnTo>
                    <a:pt x="24402414" y="13726668"/>
                  </a:lnTo>
                  <a:lnTo>
                    <a:pt x="0" y="13726668"/>
                  </a:lnTo>
                  <a:close/>
                </a:path>
              </a:pathLst>
            </a:custGeom>
            <a:solidFill>
              <a:srgbClr val="091423"/>
            </a:solid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099392" y="-68637"/>
            <a:ext cx="3157147" cy="164725"/>
            <a:chOff x="0" y="0"/>
            <a:chExt cx="4209529" cy="219634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09542" cy="219583"/>
            </a:xfrm>
            <a:custGeom>
              <a:avLst/>
              <a:gdLst/>
              <a:ahLst/>
              <a:cxnLst/>
              <a:rect r="r" b="b" t="t" l="l"/>
              <a:pathLst>
                <a:path h="219583" w="4209542">
                  <a:moveTo>
                    <a:pt x="0" y="0"/>
                  </a:moveTo>
                  <a:lnTo>
                    <a:pt x="4209542" y="0"/>
                  </a:lnTo>
                  <a:lnTo>
                    <a:pt x="4209542" y="219583"/>
                  </a:lnTo>
                  <a:lnTo>
                    <a:pt x="0" y="219583"/>
                  </a:lnTo>
                  <a:close/>
                </a:path>
              </a:pathLst>
            </a:custGeom>
            <a:solidFill>
              <a:srgbClr val="30D2D6"/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983675" y="502901"/>
            <a:ext cx="6680483" cy="2612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21"/>
              </a:lnSpc>
            </a:pPr>
            <a:r>
              <a:rPr lang="en-US" sz="1351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16 / CLOSING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83675" y="988666"/>
            <a:ext cx="16151924" cy="654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63"/>
              </a:lnSpc>
            </a:pPr>
            <a:r>
              <a:rPr lang="en-US" sz="4053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Conclusion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83675" y="1747838"/>
            <a:ext cx="15877384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1"/>
              </a:lnSpc>
            </a:pPr>
            <a:r>
              <a:rPr lang="en-US" sz="165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A concise enterprise AI integration story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89577" y="2800588"/>
            <a:ext cx="15465590" cy="1408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63"/>
              </a:lnSpc>
            </a:pPr>
            <a:r>
              <a:rPr lang="en-US" sz="3302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JouleOps connects operational data, governed business capabilities and AI-facing tools through a layered SAP BTP architecture.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1228258" y="5552170"/>
            <a:ext cx="15868669" cy="1592875"/>
            <a:chOff x="0" y="0"/>
            <a:chExt cx="21158225" cy="2123834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158200" cy="2123821"/>
            </a:xfrm>
            <a:custGeom>
              <a:avLst/>
              <a:gdLst/>
              <a:ahLst/>
              <a:cxnLst/>
              <a:rect r="r" b="b" t="t" l="l"/>
              <a:pathLst>
                <a:path h="2123821" w="21158200">
                  <a:moveTo>
                    <a:pt x="0" y="353949"/>
                  </a:moveTo>
                  <a:cubicBezTo>
                    <a:pt x="0" y="158496"/>
                    <a:pt x="158496" y="0"/>
                    <a:pt x="353949" y="0"/>
                  </a:cubicBezTo>
                  <a:lnTo>
                    <a:pt x="20804251" y="0"/>
                  </a:lnTo>
                  <a:cubicBezTo>
                    <a:pt x="20999704" y="0"/>
                    <a:pt x="21158200" y="158496"/>
                    <a:pt x="21158200" y="353949"/>
                  </a:cubicBezTo>
                  <a:lnTo>
                    <a:pt x="21158200" y="1769872"/>
                  </a:lnTo>
                  <a:cubicBezTo>
                    <a:pt x="21158200" y="1965325"/>
                    <a:pt x="20999704" y="2123821"/>
                    <a:pt x="20804251" y="2123821"/>
                  </a:cubicBezTo>
                  <a:lnTo>
                    <a:pt x="353949" y="2123821"/>
                  </a:lnTo>
                  <a:cubicBezTo>
                    <a:pt x="158496" y="2123821"/>
                    <a:pt x="0" y="1965325"/>
                    <a:pt x="0" y="1769872"/>
                  </a:cubicBezTo>
                  <a:close/>
                </a:path>
              </a:pathLst>
            </a:custGeom>
            <a:solidFill>
              <a:srgbClr val="14283F"/>
            </a:solidFill>
            <a:ln w="14299" cap="sq">
              <a:solidFill>
                <a:srgbClr val="26425E"/>
              </a:solidFill>
              <a:prstDash val="solid"/>
              <a:miter/>
            </a:ln>
          </p:spPr>
        </p:sp>
      </p:grpSp>
      <p:sp>
        <p:nvSpPr>
          <p:cNvPr name="TextBox 12" id="12"/>
          <p:cNvSpPr txBox="true"/>
          <p:nvPr/>
        </p:nvSpPr>
        <p:spPr>
          <a:xfrm rot="0">
            <a:off x="1601381" y="6126661"/>
            <a:ext cx="15053786" cy="388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42"/>
              </a:lnSpc>
            </a:pPr>
            <a:r>
              <a:rPr lang="en-US" sz="2702" b="true">
                <a:solidFill>
                  <a:srgbClr val="30D2D6"/>
                </a:solidFill>
                <a:latin typeface="Aptos Bold"/>
                <a:ea typeface="Aptos Bold"/>
                <a:cs typeface="Aptos Bold"/>
                <a:sym typeface="Aptos Bold"/>
              </a:rPr>
              <a:t>HANA  →  FastAPI  →  MCP  →  BTP  →  Joule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189577" y="8487651"/>
            <a:ext cx="5307806" cy="4576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2"/>
              </a:lnSpc>
            </a:pPr>
            <a:r>
              <a:rPr lang="en-US" sz="3002" b="true">
                <a:solidFill>
                  <a:srgbClr val="F6FAFF"/>
                </a:solidFill>
                <a:latin typeface="Aptos Bold"/>
                <a:ea typeface="Aptos Bold"/>
                <a:cs typeface="Aptos Bold"/>
                <a:sym typeface="Aptos Bold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189577" y="9077906"/>
            <a:ext cx="7778620" cy="3203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1"/>
              </a:lnSpc>
            </a:pPr>
            <a:r>
              <a:rPr lang="en-US" sz="1501">
                <a:solidFill>
                  <a:srgbClr val="A4B9CD"/>
                </a:solidFill>
                <a:latin typeface="Aptos"/>
                <a:ea typeface="Aptos"/>
                <a:cs typeface="Aptos"/>
                <a:sym typeface="Aptos"/>
              </a:rPr>
              <a:t>Susmitha Boga  •  SAP BTP AI Development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83675" y="9791690"/>
            <a:ext cx="7778620" cy="1830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1"/>
              </a:lnSpc>
            </a:pPr>
            <a:r>
              <a:rPr lang="en-US" sz="1200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JOULEOPS  /  NORTHWIND  /  SAP BTP AI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563508" y="9740989"/>
            <a:ext cx="709355" cy="233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621"/>
              </a:lnSpc>
            </a:pPr>
            <a:r>
              <a:rPr lang="en-US" sz="1351" b="true">
                <a:solidFill>
                  <a:srgbClr val="A4B9CD"/>
                </a:solidFill>
                <a:latin typeface="Aptos Bold"/>
                <a:ea typeface="Aptos Bold"/>
                <a:cs typeface="Aptos Bold"/>
                <a:sym typeface="Aptos Bold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DAHSc5onfNc</dc:identifier>
  <dcterms:modified xsi:type="dcterms:W3CDTF">2011-08-01T06:04:30Z</dcterms:modified>
  <cp:revision>1</cp:revision>
  <dc:title>JouleOps_Capstone.pptx</dc:title>
</cp:coreProperties>
</file>